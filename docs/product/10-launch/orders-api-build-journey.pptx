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098717-582d-ef91-611c-c6e510e111fb}">
          <p14:sldIdLst>
            <p14:sldId id="256"/>
            <p14:sldId id="257"/>
          </p14:sldIdLst>
        </p14:section>
        <p14:section name="Planning" id="{5d6186f1-9a40-d20b-415f-4b0691ab97a6}">
          <p14:sldIdLst>
            <p14:sldId id="258"/>
            <p14:sldId id="259"/>
            <p14:sldId id="260"/>
            <p14:sldId id="261"/>
            <p14:sldId id="262"/>
            <p14:sldId id="263"/>
            <p14:sldId id="264"/>
            <p14:sldId id="265"/>
            <p14:sldId id="266"/>
          </p14:sldIdLst>
        </p14:section>
        <p14:section name="Build and review" id="{c4e38ccf-9a7a-f396-74a4-c5f96f6a4c78}">
          <p14:sldIdLst>
            <p14:sldId id="267"/>
            <p14:sldId id="268"/>
            <p14:sldId id="269"/>
          </p14:sldIdLst>
        </p14:section>
        <p14:section name="Wrap-up" id="{6f2b831e-1008-353b-2085-08b1afc65d94}">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Planned tests</c:v>
                </c:pt>
              </c:strCache>
            </c:strRef>
          </c:tx>
          <c:spPr>
            <a:solidFill>
              <a:srgbClr val="1F9E91"/>
            </a:solidFill>
            <a:effectLst/>
          </c:spPr>
          <c:invertIfNegative val="0"/>
          <c:dLbls>
            <c:numFmt formatCode="#,##0" sourceLinked="0"/>
            <c:txPr>
              <a:bodyPr/>
              <a:lstStyle/>
              <a:p>
                <a:pPr>
                  <a:defRPr b="0" i="0" strike="noStrike" sz="1100" u="none">
                    <a:solidFill>
                      <a:srgbClr val="1A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Integration / API</c:v>
                  </c:pt>
                  <c:pt idx="1">
                    <c:v>Unit</c:v>
                  </c:pt>
                  <c:pt idx="2">
                    <c:v>Serial</c:v>
                  </c:pt>
                  <c:pt idx="3">
                    <c:v>Architecture rules</c:v>
                  </c:pt>
                </c:lvl>
              </c:multiLvlStrCache>
            </c:multiLvlStrRef>
          </c:cat>
          <c:val>
            <c:numRef>
              <c:f>Sheet1!$B$2:$B$5</c:f>
              <c:numCache>
                <c:formatCode>General</c:formatCode>
                <c:ptCount val="4"/>
                <c:pt idx="0">
                  <c:v>350</c:v>
                </c:pt>
                <c:pt idx="1">
                  <c:v>200</c:v>
                </c:pt>
                <c:pt idx="2">
                  <c:v>40</c:v>
                </c:pt>
                <c:pt idx="3">
                  <c:v>20</c:v>
                </c:pt>
              </c:numCache>
            </c:numRef>
          </c:val>
        </c:ser>
        <c:dLbls>
          <c:numFmt formatCode="#,##0" sourceLinked="0"/>
          <c:txPr>
            <a:bodyPr/>
            <a:lstStyle/>
            <a:p>
              <a:pPr>
                <a:defRPr b="0" i="0" strike="noStrike" sz="1100" u="none">
                  <a:solidFill>
                    <a:srgbClr val="1A15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A15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7D77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1F5C"/>
                </a:solidFill>
                <a:latin typeface="+mn-lt"/>
              </a:defRPr>
            </a:pPr>
            <a:r>
              <a:rPr sz="1300" b="0" i="0" u="none" strike="noStrike">
                <a:solidFill>
                  <a:srgbClr val="2A1F5C"/>
                </a:solidFill>
                <a:latin typeface="+mn-lt"/>
              </a:rPr>
              <a:t>Time-box per slice (days, upper bound)</a:t>
            </a:r>
          </a:p>
        </c:rich>
      </c:tx>
      <c:layout/>
      <c:overlay val="0"/>
    </c:title>
    <c:autoTitleDeleted val="0"/>
    <c:plotArea>
      <c:layout/>
      <c:barChart>
        <c:barDir val="col"/>
        <c:grouping val="clustered"/>
        <c:varyColors val="0"/>
        <c:ser>
          <c:idx val="0"/>
          <c:order val="0"/>
          <c:tx>
            <c:strRef>
              <c:f>Sheet1!$B$1</c:f>
              <c:strCache>
                <c:ptCount val="1"/>
                <c:pt idx="0">
                  <c:v>Days (upper bound)</c:v>
                </c:pt>
              </c:strCache>
            </c:strRef>
          </c:tx>
          <c:spPr>
            <a:solidFill>
              <a:srgbClr val="6B4EFF"/>
            </a:solidFill>
            <a:effectLst/>
          </c:spPr>
          <c:invertIfNegative val="0"/>
          <c:dLbls>
            <c:numFmt formatCode="#,##0" sourceLinked="0"/>
            <c:txPr>
              <a:bodyPr/>
              <a:lstStyle/>
              <a:p>
                <a:pPr>
                  <a:defRPr b="0" i="0" strike="noStrike" sz="1100" u="none">
                    <a:solidFill>
                      <a:srgbClr val="1A1530"/>
                    </a:solidFill>
                    <a:latin typeface="+mn-lt"/>
                  </a:defRPr>
                </a:pPr>
              </a:p>
            </c:txPr>
            <c:showLegendKey val="0"/>
            <c:showVal val="1"/>
            <c:showCatName val="0"/>
            <c:showSerName val="0"/>
            <c:showPercent val="0"/>
            <c:showBubbleSize val="0"/>
            <c:showLeaderLines val="0"/>
          </c:dLbls>
          <c:cat>
            <c:multiLvlStrRef>
              <c:f>Sheet1!$A$2:$A$7</c:f>
              <c:multiLvlStrCache>
                <c:ptCount val="6"/>
                <c:lvl>
                  <c:pt idx="0">
                    <c:v>S1a skeleton</c:v>
                  </c:pt>
                  <c:pt idx="1">
                    <c:v>S1b auth</c:v>
                  </c:pt>
                  <c:pt idx="2">
                    <c:v>S2 customers</c:v>
                  </c:pt>
                  <c:pt idx="3">
                    <c:v>S3 orders</c:v>
                  </c:pt>
                  <c:pt idx="4">
                    <c:v>S4 reports</c:v>
                  </c:pt>
                  <c:pt idx="5">
                    <c:v>Template + ops</c:v>
                  </c:pt>
                </c:lvl>
              </c:multiLvlStrCache>
            </c:multiLvlStrRef>
          </c:cat>
          <c:val>
            <c:numRef>
              <c:f>Sheet1!$B$2:$B$7</c:f>
              <c:numCache>
                <c:formatCode>General</c:formatCode>
                <c:ptCount val="6"/>
                <c:pt idx="0">
                  <c:v>18</c:v>
                </c:pt>
                <c:pt idx="1">
                  <c:v>28</c:v>
                </c:pt>
                <c:pt idx="2">
                  <c:v>20</c:v>
                </c:pt>
                <c:pt idx="3">
                  <c:v>15</c:v>
                </c:pt>
                <c:pt idx="4">
                  <c:v>8</c:v>
                </c:pt>
                <c:pt idx="5">
                  <c:v>9</c:v>
                </c:pt>
              </c:numCache>
            </c:numRef>
          </c:val>
        </c:ser>
        <c:dLbls>
          <c:numFmt formatCode="#,##0" sourceLinked="0"/>
          <c:txPr>
            <a:bodyPr/>
            <a:lstStyle/>
            <a:p>
              <a:pPr>
                <a:defRPr b="0" i="0" strike="noStrike" sz="1100" u="none">
                  <a:solidFill>
                    <a:srgbClr val="1A15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A1530"/>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4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D77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Decisions</c:v>
                </c:pt>
              </c:strCache>
            </c:strRef>
          </c:tx>
          <c:spPr>
            <a:solidFill>
              <a:srgbClr val="6B4EFF"/>
            </a:solidFill>
            <a:effectLst/>
          </c:spPr>
          <c:invertIfNegative val="0"/>
          <c:dLbls>
            <c:numFmt formatCode="#,##0" sourceLinked="0"/>
            <c:txPr>
              <a:bodyPr/>
              <a:lstStyle/>
              <a:p>
                <a:pPr>
                  <a:defRPr b="0" i="0" strike="noStrike" sz="1100" u="none">
                    <a:solidFill>
                      <a:srgbClr val="1A1530"/>
                    </a:solidFill>
                    <a:latin typeface="+mn-lt"/>
                  </a:defRPr>
                </a:pPr>
              </a:p>
            </c:txPr>
            <c:showLegendKey val="0"/>
            <c:showVal val="1"/>
            <c:showCatName val="0"/>
            <c:showSerName val="0"/>
            <c:showPercent val="0"/>
            <c:showBubbleSize val="0"/>
            <c:showLeaderLines val="0"/>
          </c:dLbls>
          <c:cat>
            <c:multiLvlStrRef>
              <c:f>Sheet1!$A$2:$A$8</c:f>
              <c:multiLvlStrCache>
                <c:ptCount val="7"/>
                <c:lvl>
                  <c:pt idx="0">
                    <c:v>Requirements (D)</c:v>
                  </c:pt>
                  <c:pt idx="1">
                    <c:v>Pre-mortem (P)</c:v>
                  </c:pt>
                  <c:pt idx="2">
                    <c:v>Architecture (A-D)</c:v>
                  </c:pt>
                  <c:pt idx="3">
                    <c:v>Arch review (R)</c:v>
                  </c:pt>
                  <c:pt idx="4">
                    <c:v>Security (S-D)</c:v>
                  </c:pt>
                  <c:pt idx="5">
                    <c:v>Quality (Q-D)</c:v>
                  </c:pt>
                  <c:pt idx="6">
                    <c:v>Delivery (DL-D)</c:v>
                  </c:pt>
                </c:lvl>
              </c:multiLvlStrCache>
            </c:multiLvlStrRef>
          </c:cat>
          <c:val>
            <c:numRef>
              <c:f>Sheet1!$B$2:$B$8</c:f>
              <c:numCache>
                <c:formatCode>General</c:formatCode>
                <c:ptCount val="7"/>
                <c:pt idx="0">
                  <c:v>16</c:v>
                </c:pt>
                <c:pt idx="1">
                  <c:v>10</c:v>
                </c:pt>
                <c:pt idx="2">
                  <c:v>17</c:v>
                </c:pt>
                <c:pt idx="3">
                  <c:v>5</c:v>
                </c:pt>
                <c:pt idx="4">
                  <c:v>8</c:v>
                </c:pt>
                <c:pt idx="5">
                  <c:v>6</c:v>
                </c:pt>
                <c:pt idx="6">
                  <c:v>6</c:v>
                </c:pt>
              </c:numCache>
            </c:numRef>
          </c:val>
        </c:ser>
        <c:dLbls>
          <c:numFmt formatCode="#,##0" sourceLinked="0"/>
          <c:txPr>
            <a:bodyPr/>
            <a:lstStyle/>
            <a:p>
              <a:pPr>
                <a:defRPr b="0" i="0" strike="noStrike" sz="1100" u="none">
                  <a:solidFill>
                    <a:srgbClr val="1A15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A15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7D77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1F5C"/>
                </a:solidFill>
                <a:latin typeface="+mn-lt"/>
              </a:defRPr>
            </a:pPr>
            <a:r>
              <a:rPr sz="1300" b="0" i="0" u="none" strike="noStrike">
                <a:solidFill>
                  <a:srgbClr val="2A1F5C"/>
                </a:solidFill>
                <a:latin typeface="+mn-lt"/>
              </a:rPr>
              <a:t>Findings by severity</a:t>
            </a:r>
          </a:p>
        </c:rich>
      </c:tx>
      <c:layout/>
      <c:overlay val="0"/>
    </c:title>
    <c:autoTitleDeleted val="0"/>
    <c:plotArea>
      <c:layout/>
      <c:barChart>
        <c:barDir val="col"/>
        <c:grouping val="stacked"/>
        <c:varyColors val="0"/>
        <c:ser>
          <c:idx val="0"/>
          <c:order val="0"/>
          <c:tx>
            <c:strRef>
              <c:f>Sheet1!$B$1</c:f>
              <c:strCache>
                <c:ptCount val="1"/>
                <c:pt idx="0">
                  <c:v>High</c:v>
                </c:pt>
              </c:strCache>
            </c:strRef>
          </c:tx>
          <c:spPr>
            <a:solidFill>
              <a:srgbClr val="D9485F"/>
            </a:solidFill>
            <a:effectLst/>
          </c:spPr>
          <c:invertIfNegative val="0"/>
          <c:dLbls>
            <c:numFmt formatCode="0;;;" sourceLinked="0"/>
            <c:txPr>
              <a:bodyPr/>
              <a:lstStyle/>
              <a:p>
                <a:pPr>
                  <a:defRPr b="0" i="0" strike="noStrike" sz="1100" u="none">
                    <a:solidFill>
                      <a:srgbClr val="1A1530"/>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Code review</c:v>
                  </c:pt>
                  <c:pt idx="1">
                    <c:v>Security review</c:v>
                  </c:pt>
                </c:lvl>
              </c:multiLvlStrCache>
            </c:multiLvlStrRef>
          </c:cat>
          <c:val>
            <c:numRef>
              <c:f>Sheet1!$B$2:$B$3</c:f>
              <c:numCache>
                <c:formatCode>General</c:formatCode>
                <c:ptCount val="2"/>
                <c:pt idx="0">
                  <c:v>1</c:v>
                </c:pt>
                <c:pt idx="1">
                  <c:v>0</c:v>
                </c:pt>
              </c:numCache>
            </c:numRef>
          </c:val>
        </c:ser>
        <c:ser>
          <c:idx val="1"/>
          <c:order val="1"/>
          <c:tx>
            <c:strRef>
              <c:f>Sheet1!$C$1</c:f>
              <c:strCache>
                <c:ptCount val="1"/>
                <c:pt idx="0">
                  <c:v>Medium</c:v>
                </c:pt>
              </c:strCache>
            </c:strRef>
          </c:tx>
          <c:spPr>
            <a:solidFill>
              <a:srgbClr val="E8962E"/>
            </a:solidFill>
            <a:effectLst/>
          </c:spPr>
          <c:invertIfNegative val="0"/>
          <c:dLbls>
            <c:numFmt formatCode="0;;;" sourceLinked="0"/>
            <c:txPr>
              <a:bodyPr/>
              <a:lstStyle/>
              <a:p>
                <a:pPr>
                  <a:defRPr b="0" i="0" strike="noStrike" sz="1100" u="none">
                    <a:solidFill>
                      <a:srgbClr val="1A1530"/>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Code review</c:v>
                  </c:pt>
                  <c:pt idx="1">
                    <c:v>Security review</c:v>
                  </c:pt>
                </c:lvl>
              </c:multiLvlStrCache>
            </c:multiLvlStrRef>
          </c:cat>
          <c:val>
            <c:numRef>
              <c:f>Sheet1!$C$2:$C$3</c:f>
              <c:numCache>
                <c:formatCode>General</c:formatCode>
                <c:ptCount val="2"/>
                <c:pt idx="0">
                  <c:v>5</c:v>
                </c:pt>
                <c:pt idx="1">
                  <c:v>3</c:v>
                </c:pt>
              </c:numCache>
            </c:numRef>
          </c:val>
        </c:ser>
        <c:ser>
          <c:idx val="2"/>
          <c:order val="2"/>
          <c:tx>
            <c:strRef>
              <c:f>Sheet1!$D$1</c:f>
              <c:strCache>
                <c:ptCount val="1"/>
                <c:pt idx="0">
                  <c:v>Low</c:v>
                </c:pt>
              </c:strCache>
            </c:strRef>
          </c:tx>
          <c:spPr>
            <a:solidFill>
              <a:srgbClr val="B9AEF5"/>
            </a:solidFill>
            <a:effectLst/>
          </c:spPr>
          <c:invertIfNegative val="0"/>
          <c:dLbls>
            <c:numFmt formatCode="0;;;" sourceLinked="0"/>
            <c:txPr>
              <a:bodyPr/>
              <a:lstStyle/>
              <a:p>
                <a:pPr>
                  <a:defRPr b="0" i="0" strike="noStrike" sz="1100" u="none">
                    <a:solidFill>
                      <a:srgbClr val="1A1530"/>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Code review</c:v>
                  </c:pt>
                  <c:pt idx="1">
                    <c:v>Security review</c:v>
                  </c:pt>
                </c:lvl>
              </c:multiLvlStrCache>
            </c:multiLvlStrRef>
          </c:cat>
          <c:val>
            <c:numRef>
              <c:f>Sheet1!$D$2:$D$3</c:f>
              <c:numCache>
                <c:formatCode>General</c:formatCode>
                <c:ptCount val="2"/>
                <c:pt idx="0">
                  <c:v>13</c:v>
                </c:pt>
                <c:pt idx="1">
                  <c:v>8</c:v>
                </c:pt>
              </c:numCache>
            </c:numRef>
          </c:val>
        </c:ser>
        <c:dLbls>
          <c:numFmt formatCode="0;;;" sourceLinked="0"/>
          <c:txPr>
            <a:bodyPr/>
            <a:lstStyle/>
            <a:p>
              <a:pPr>
                <a:defRPr b="0" i="0" strike="noStrike" sz="1100" u="none">
                  <a:solidFill>
                    <a:srgbClr val="1A1530"/>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A1530"/>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4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D779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5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process used to create the Demo-API repository: how the plan was made, who (which agents) made each part, how decisions were recorded, and how the code was built, reviewed and demoed. Everything here comes from docs/product, mainly 00-summary.md and notes.md.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in five days. Planning took most of the calendar time (24-27 October); building, reviewing and the demo were compressed into the last two days because the plan was detailed enough to hand straight to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is a copy-paste prompt template. It names the product, the users, the fixed technology stack and the open questions, and tells Claude to run the product-brainstorm skill. Section 9 of the brief held 13 open questions; their answers are in 00-summary.md.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stack-versions-2026-10-24.md. Same approach also led to Microsoft.Extensions.Resilience instead of a direct Polly reference. These checks protect the long-term goal: a reusable dotnet new template that clients can use without licence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product-brainstorm skill sets the phase order and the gates. Research, UX and UI design were skipped because the product is an API with no UI. The actual order was Concept, Requirements, Architecture, Security, Quality, Delivery. Release and Operations are planned as light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60 stories surfaced gaps, recorded as decisions D1-D16 in PRD section 16 (for example: reports keep deleted customers and products, self-delete is POST /customers/me/erase, ExecuteUpdate is banned).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pre-mortem decisions: personal data is never stored in the audit log (audit is append-only), customer restore moved to stretch, compose runs as Development with generated dev secrets, reviews are done by fresh-context agents, CI is Azure Pipelines. Kill criteria are in pre-mortem.md.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specialist had preloaded skills (for example dotnet-clean-architecture, dotnet-ef-core, dotnet-authz). Usage limits stopped these agents twice; they were resumed with SendMessage, not restarted. After the devil's advocate review, dotnet-architect was resumed to apply R-1..R-5 to the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decisions are in threat-model.md section 9 and ADR 0014. The test strategy adds a generated authorization matrix (every endpoint tested as Admin, Customer and anonymous), at most three quarantined tests, and coverage as a warning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planned effort was 83-98 days of one-developer time. When the agent's write call was denied by the auto-mode permission check, the main session created the items through the Azure DevOps REST API with the same token, then verified them. The item IDs are in azdo-map.md.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IDs make it easy to trace a line of code or a test back to a choice. For example, P4 (no personal data in the audit log) explains why the audit table is append-only and why the app writes the word 'changed' instead of values for personal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ran on branch feature/build-orders-api. The user asked mid-build to use the existing agents and skills, so the remaining work was handed to agents #22 to #25 in notes.md. The main session fixed integration issues the agents left, such as a missing AddRateLimiter call, then smoke-tested docker compose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reviewers (dotnet-code-reviewer and dotnet-security-reviewer) start with no memory of how the code was written and cannot edit files. Their condensed findings and the fix for each are in 07-quality/review-2026-10-27.md, tracked on Azure DevOps story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upload attempts to Loom through the Atlassian MCP server failed; the steps and the failure are recorded in demo-video-steps.md. The final video link is now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guardrails matter more than any single agent. Examples from the log: the guard-secrets hook blocked a .env.example file and the agent stopped and reported it; a guard-api-commands hook blocked a command containing the word Production. Later agents were told to stop and report hook blocks rather than find another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questions from 00-summary.md: which client project will reuse the template (needed before S3 per pre-mortem F2), and that project's security owner and compliance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accent5"/>
                </a:solidFill>
              </a:rPr>
              <a:t>Orders API  ·  How it was built</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Orders API  ·  How it was built</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Building the Orders API</a:t>
            </a:r>
            <a:endParaRPr lang="en-US" sz="4000" dirty="0"/>
          </a:p>
        </p:txBody>
      </p:sp>
      <p:sp>
        <p:nvSpPr>
          <p:cNvPr id="3" name="Text 0"/>
          <p:cNvSpPr/>
          <p:nvPr>
            <p:ph idx="101" type="body" hasCustomPrompt="1"/>
          </p:nvPr>
        </p:nvSpPr>
        <p:spPr>
          <a:xfrm>
            <a:off x="548640" y="2834640"/>
            <a:ext cx="8046720" cy="914400"/>
          </a:xfrm>
          <a:prstGeom prst="rect">
            <a:avLst/>
          </a:prstGeom>
          <a:noFill/>
          <a:ln/>
        </p:spPr>
        <p:txBody>
          <a:bodyPr wrap="square" lIns="0" tIns="0" rIns="0" bIns="0" rtlCol="0" anchor="t"/>
          <a:lstStyle/>
          <a:p>
            <a:pPr indent="0" marL="0">
              <a:buNone/>
            </a:pPr>
            <a:r>
              <a:rPr lang="en-US" sz="1800" dirty="0">
                <a:solidFill>
                  <a:schemeClr val="accent6"/>
                </a:solidFill>
              </a:rPr>
              <a:t>How one developer and a team of Claude Code agents went from a prompt brief to a tested .NET 10 API in five days</a:t>
            </a:r>
            <a:endParaRPr lang="en-US" sz="1800" dirty="0"/>
          </a:p>
        </p:txBody>
      </p:sp>
      <p:sp>
        <p:nvSpPr>
          <p:cNvPr id="4" name="text-1"/>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200" dirty="0">
                <a:solidFill>
                  <a:schemeClr val="accent6"/>
                </a:solidFill>
              </a:rPr>
              <a:t>Demo-API repository  ·  24-29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journey at a glance</a:t>
            </a:r>
            <a:endParaRPr lang="en-US" sz="3000" dirty="0"/>
          </a:p>
        </p:txBody>
      </p:sp>
      <p:sp>
        <p:nvSpPr>
          <p:cNvPr id="3" name="timeline-2"/>
          <p:cNvSpPr/>
          <p:nvPr/>
        </p:nvSpPr>
        <p:spPr>
          <a:xfrm>
            <a:off x="1143000" y="1517904"/>
            <a:ext cx="6858000" cy="0"/>
          </a:xfrm>
          <a:prstGeom prst="line">
            <a:avLst/>
          </a:prstGeom>
          <a:noFill/>
          <a:ln w="25400">
            <a:solidFill>
              <a:srgbClr val="D6D1E6"/>
            </a:solidFill>
            <a:prstDash val="solid"/>
          </a:ln>
        </p:spPr>
      </p:sp>
      <p:sp>
        <p:nvSpPr>
          <p:cNvPr id="4" name="icon-circle-3"/>
          <p:cNvSpPr/>
          <p:nvPr/>
        </p:nvSpPr>
        <p:spPr>
          <a:xfrm>
            <a:off x="859536" y="1234440"/>
            <a:ext cx="566928" cy="566928"/>
          </a:xfrm>
          <a:prstGeom prst="ellipse">
            <a:avLst/>
          </a:prstGeom>
          <a:solidFill>
            <a:schemeClr val="accent5"/>
          </a:solidFill>
          <a:ln/>
        </p:spPr>
      </p:sp>
      <p:pic>
        <p:nvPicPr>
          <p:cNvPr id="5" name="icon-4" descr="icon">    </p:cNvPr>
          <p:cNvPicPr>
            <a:picLocks noChangeAspect="1"/>
          </p:cNvPicPr>
          <p:nvPr/>
        </p:nvPicPr>
        <p:blipFill>
          <a:blip r:embed="rId1"/>
          <a:stretch>
            <a:fillRect/>
          </a:stretch>
        </p:blipFill>
        <p:spPr>
          <a:xfrm>
            <a:off x="1006937" y="1381841"/>
            <a:ext cx="272125" cy="272125"/>
          </a:xfrm>
          <a:prstGeom prst="rect">
            <a:avLst/>
          </a:prstGeom>
        </p:spPr>
      </p:pic>
      <p:sp>
        <p:nvSpPr>
          <p:cNvPr id="6" name="text-5"/>
          <p:cNvSpPr txBox="1"/>
          <p:nvPr/>
        </p:nvSpPr>
        <p:spPr>
          <a:xfrm>
            <a:off x="457200" y="1892808"/>
            <a:ext cx="1371600" cy="274320"/>
          </a:xfrm>
          <a:prstGeom prst="rect">
            <a:avLst/>
          </a:prstGeom>
          <a:noFill/>
          <a:ln/>
        </p:spPr>
        <p:txBody>
          <a:bodyPr wrap="square" lIns="0" tIns="0" rIns="0" bIns="0" rtlCol="0" anchor="t"/>
          <a:lstStyle/>
          <a:p>
            <a:pPr algn="ctr" indent="0" marL="0">
              <a:buNone/>
            </a:pPr>
            <a:r>
              <a:rPr lang="en-US" sz="1400" b="1" dirty="0">
                <a:solidFill>
                  <a:schemeClr val="tx2"/>
                </a:solidFill>
              </a:rPr>
              <a:t>Brief</a:t>
            </a:r>
            <a:endParaRPr lang="en-US" sz="1400" dirty="0"/>
          </a:p>
        </p:txBody>
      </p:sp>
      <p:sp>
        <p:nvSpPr>
          <p:cNvPr id="7" name="text-6"/>
          <p:cNvSpPr txBox="1"/>
          <p:nvPr/>
        </p:nvSpPr>
        <p:spPr>
          <a:xfrm>
            <a:off x="457200" y="2157984"/>
            <a:ext cx="1371600" cy="228600"/>
          </a:xfrm>
          <a:prstGeom prst="rect">
            <a:avLst/>
          </a:prstGeom>
          <a:noFill/>
          <a:ln/>
        </p:spPr>
        <p:txBody>
          <a:bodyPr wrap="square" lIns="0" tIns="0" rIns="0" bIns="0" rtlCol="0" anchor="t"/>
          <a:lstStyle/>
          <a:p>
            <a:pPr algn="ctr" indent="0" marL="0">
              <a:buNone/>
            </a:pPr>
            <a:r>
              <a:rPr lang="en-US" sz="1100" dirty="0">
                <a:solidFill>
                  <a:schemeClr val="accent5"/>
                </a:solidFill>
              </a:rPr>
              <a:t>24 Oct</a:t>
            </a:r>
            <a:endParaRPr lang="en-US" sz="1100" dirty="0"/>
          </a:p>
        </p:txBody>
      </p:sp>
      <p:sp>
        <p:nvSpPr>
          <p:cNvPr id="8" name="text-7"/>
          <p:cNvSpPr txBox="1"/>
          <p:nvPr/>
        </p:nvSpPr>
        <p:spPr>
          <a:xfrm>
            <a:off x="530352" y="2395728"/>
            <a:ext cx="1225296" cy="594360"/>
          </a:xfrm>
          <a:prstGeom prst="rect">
            <a:avLst/>
          </a:prstGeom>
          <a:noFill/>
          <a:ln/>
        </p:spPr>
        <p:txBody>
          <a:bodyPr wrap="square" lIns="0" tIns="0" rIns="0" bIns="0" rtlCol="0" anchor="t"/>
          <a:lstStyle/>
          <a:p>
            <a:pPr algn="ctr" indent="0" marL="0">
              <a:buNone/>
            </a:pPr>
            <a:r>
              <a:rPr lang="en-US" sz="1100" dirty="0">
                <a:solidFill>
                  <a:schemeClr val="tx1"/>
                </a:solidFill>
              </a:rPr>
              <a:t>Prompt template with a fixed stack</a:t>
            </a:r>
            <a:endParaRPr lang="en-US" sz="1100" dirty="0"/>
          </a:p>
        </p:txBody>
      </p:sp>
      <p:sp>
        <p:nvSpPr>
          <p:cNvPr id="9" name="icon-circle-8"/>
          <p:cNvSpPr/>
          <p:nvPr/>
        </p:nvSpPr>
        <p:spPr>
          <a:xfrm>
            <a:off x="2231136" y="1234440"/>
            <a:ext cx="566928" cy="566928"/>
          </a:xfrm>
          <a:prstGeom prst="ellipse">
            <a:avLst/>
          </a:prstGeom>
          <a:solidFill>
            <a:schemeClr val="accent1"/>
          </a:solidFill>
          <a:ln/>
        </p:spPr>
      </p:sp>
      <p:pic>
        <p:nvPicPr>
          <p:cNvPr id="10" name="icon-9" descr="icon">    </p:cNvPr>
          <p:cNvPicPr>
            <a:picLocks noChangeAspect="1"/>
          </p:cNvPicPr>
          <p:nvPr/>
        </p:nvPicPr>
        <p:blipFill>
          <a:blip r:embed="rId2"/>
          <a:stretch>
            <a:fillRect/>
          </a:stretch>
        </p:blipFill>
        <p:spPr>
          <a:xfrm>
            <a:off x="2378537" y="1381841"/>
            <a:ext cx="272125" cy="272125"/>
          </a:xfrm>
          <a:prstGeom prst="rect">
            <a:avLst/>
          </a:prstGeom>
        </p:spPr>
      </p:pic>
      <p:sp>
        <p:nvSpPr>
          <p:cNvPr id="11" name="text-10"/>
          <p:cNvSpPr txBox="1"/>
          <p:nvPr/>
        </p:nvSpPr>
        <p:spPr>
          <a:xfrm>
            <a:off x="1828800" y="1892808"/>
            <a:ext cx="1371600" cy="274320"/>
          </a:xfrm>
          <a:prstGeom prst="rect">
            <a:avLst/>
          </a:prstGeom>
          <a:noFill/>
          <a:ln/>
        </p:spPr>
        <p:txBody>
          <a:bodyPr wrap="square" lIns="0" tIns="0" rIns="0" bIns="0" rtlCol="0" anchor="t"/>
          <a:lstStyle/>
          <a:p>
            <a:pPr algn="ctr" indent="0" marL="0">
              <a:buNone/>
            </a:pPr>
            <a:r>
              <a:rPr lang="en-US" sz="1400" b="1" dirty="0">
                <a:solidFill>
                  <a:schemeClr val="tx2"/>
                </a:solidFill>
              </a:rPr>
              <a:t>Plan</a:t>
            </a:r>
            <a:endParaRPr lang="en-US" sz="1400" dirty="0"/>
          </a:p>
        </p:txBody>
      </p:sp>
      <p:sp>
        <p:nvSpPr>
          <p:cNvPr id="12" name="text-11"/>
          <p:cNvSpPr txBox="1"/>
          <p:nvPr/>
        </p:nvSpPr>
        <p:spPr>
          <a:xfrm>
            <a:off x="1828800" y="2157984"/>
            <a:ext cx="1371600" cy="228600"/>
          </a:xfrm>
          <a:prstGeom prst="rect">
            <a:avLst/>
          </a:prstGeom>
          <a:noFill/>
          <a:ln/>
        </p:spPr>
        <p:txBody>
          <a:bodyPr wrap="square" lIns="0" tIns="0" rIns="0" bIns="0" rtlCol="0" anchor="t"/>
          <a:lstStyle/>
          <a:p>
            <a:pPr algn="ctr" indent="0" marL="0">
              <a:buNone/>
            </a:pPr>
            <a:r>
              <a:rPr lang="en-US" sz="1100" dirty="0">
                <a:solidFill>
                  <a:schemeClr val="accent5"/>
                </a:solidFill>
              </a:rPr>
              <a:t>24-27 Oct</a:t>
            </a:r>
            <a:endParaRPr lang="en-US" sz="1100" dirty="0"/>
          </a:p>
        </p:txBody>
      </p:sp>
      <p:sp>
        <p:nvSpPr>
          <p:cNvPr id="13" name="text-12"/>
          <p:cNvSpPr txBox="1"/>
          <p:nvPr/>
        </p:nvSpPr>
        <p:spPr>
          <a:xfrm>
            <a:off x="1901952" y="2395728"/>
            <a:ext cx="1225296" cy="594360"/>
          </a:xfrm>
          <a:prstGeom prst="rect">
            <a:avLst/>
          </a:prstGeom>
          <a:noFill/>
          <a:ln/>
        </p:spPr>
        <p:txBody>
          <a:bodyPr wrap="square" lIns="0" tIns="0" rIns="0" bIns="0" rtlCol="0" anchor="t"/>
          <a:lstStyle/>
          <a:p>
            <a:pPr algn="ctr" indent="0" marL="0">
              <a:buNone/>
            </a:pPr>
            <a:r>
              <a:rPr lang="en-US" sz="1100" dirty="0">
                <a:solidFill>
                  <a:schemeClr val="tx1"/>
                </a:solidFill>
              </a:rPr>
              <a:t>Six planning phases, each by an advisor agent</a:t>
            </a:r>
            <a:endParaRPr lang="en-US" sz="1100" dirty="0"/>
          </a:p>
        </p:txBody>
      </p:sp>
      <p:sp>
        <p:nvSpPr>
          <p:cNvPr id="14" name="icon-circle-13"/>
          <p:cNvSpPr/>
          <p:nvPr/>
        </p:nvSpPr>
        <p:spPr>
          <a:xfrm>
            <a:off x="3602736" y="1234440"/>
            <a:ext cx="566928" cy="566928"/>
          </a:xfrm>
          <a:prstGeom prst="ellipse">
            <a:avLst/>
          </a:prstGeom>
          <a:solidFill>
            <a:schemeClr val="accent1"/>
          </a:solidFill>
          <a:ln/>
        </p:spPr>
      </p:sp>
      <p:pic>
        <p:nvPicPr>
          <p:cNvPr id="15" name="icon-14" descr="icon">    </p:cNvPr>
          <p:cNvPicPr>
            <a:picLocks noChangeAspect="1"/>
          </p:cNvPicPr>
          <p:nvPr/>
        </p:nvPicPr>
        <p:blipFill>
          <a:blip r:embed="rId3"/>
          <a:stretch>
            <a:fillRect/>
          </a:stretch>
        </p:blipFill>
        <p:spPr>
          <a:xfrm>
            <a:off x="3750137" y="1381841"/>
            <a:ext cx="272125" cy="272125"/>
          </a:xfrm>
          <a:prstGeom prst="rect">
            <a:avLst/>
          </a:prstGeom>
        </p:spPr>
      </p:pic>
      <p:sp>
        <p:nvSpPr>
          <p:cNvPr id="16" name="text-15"/>
          <p:cNvSpPr txBox="1"/>
          <p:nvPr/>
        </p:nvSpPr>
        <p:spPr>
          <a:xfrm>
            <a:off x="3200400" y="1892808"/>
            <a:ext cx="1371600" cy="274320"/>
          </a:xfrm>
          <a:prstGeom prst="rect">
            <a:avLst/>
          </a:prstGeom>
          <a:noFill/>
          <a:ln/>
        </p:spPr>
        <p:txBody>
          <a:bodyPr wrap="square" lIns="0" tIns="0" rIns="0" bIns="0" rtlCol="0" anchor="t"/>
          <a:lstStyle/>
          <a:p>
            <a:pPr algn="ctr" indent="0" marL="0">
              <a:buNone/>
            </a:pPr>
            <a:r>
              <a:rPr lang="en-US" sz="1400" b="1" dirty="0">
                <a:solidFill>
                  <a:schemeClr val="tx2"/>
                </a:solidFill>
              </a:rPr>
              <a:t>Board</a:t>
            </a:r>
            <a:endParaRPr lang="en-US" sz="1400" dirty="0"/>
          </a:p>
        </p:txBody>
      </p:sp>
      <p:sp>
        <p:nvSpPr>
          <p:cNvPr id="17" name="text-16"/>
          <p:cNvSpPr txBox="1"/>
          <p:nvPr/>
        </p:nvSpPr>
        <p:spPr>
          <a:xfrm>
            <a:off x="3200400" y="2157984"/>
            <a:ext cx="1371600" cy="228600"/>
          </a:xfrm>
          <a:prstGeom prst="rect">
            <a:avLst/>
          </a:prstGeom>
          <a:noFill/>
          <a:ln/>
        </p:spPr>
        <p:txBody>
          <a:bodyPr wrap="square" lIns="0" tIns="0" rIns="0" bIns="0" rtlCol="0" anchor="t"/>
          <a:lstStyle/>
          <a:p>
            <a:pPr algn="ctr" indent="0" marL="0">
              <a:buNone/>
            </a:pPr>
            <a:r>
              <a:rPr lang="en-US" sz="1100" dirty="0">
                <a:solidFill>
                  <a:schemeClr val="accent5"/>
                </a:solidFill>
              </a:rPr>
              <a:t>27 Oct</a:t>
            </a:r>
            <a:endParaRPr lang="en-US" sz="1100" dirty="0"/>
          </a:p>
        </p:txBody>
      </p:sp>
      <p:sp>
        <p:nvSpPr>
          <p:cNvPr id="18" name="text-17"/>
          <p:cNvSpPr txBox="1"/>
          <p:nvPr/>
        </p:nvSpPr>
        <p:spPr>
          <a:xfrm>
            <a:off x="3273552" y="2395728"/>
            <a:ext cx="1225296" cy="594360"/>
          </a:xfrm>
          <a:prstGeom prst="rect">
            <a:avLst/>
          </a:prstGeom>
          <a:noFill/>
          <a:ln/>
        </p:spPr>
        <p:txBody>
          <a:bodyPr wrap="square" lIns="0" tIns="0" rIns="0" bIns="0" rtlCol="0" anchor="t"/>
          <a:lstStyle/>
          <a:p>
            <a:pPr algn="ctr" indent="0" marL="0">
              <a:buNone/>
            </a:pPr>
            <a:r>
              <a:rPr lang="en-US" sz="1100" dirty="0">
                <a:solidFill>
                  <a:schemeClr val="tx1"/>
                </a:solidFill>
              </a:rPr>
              <a:t>168 work items in Azure DevOps</a:t>
            </a:r>
            <a:endParaRPr lang="en-US" sz="1100" dirty="0"/>
          </a:p>
        </p:txBody>
      </p:sp>
      <p:sp>
        <p:nvSpPr>
          <p:cNvPr id="19" name="icon-circle-18"/>
          <p:cNvSpPr/>
          <p:nvPr/>
        </p:nvSpPr>
        <p:spPr>
          <a:xfrm>
            <a:off x="4974336" y="1234440"/>
            <a:ext cx="566928" cy="566928"/>
          </a:xfrm>
          <a:prstGeom prst="ellipse">
            <a:avLst/>
          </a:prstGeom>
          <a:solidFill>
            <a:schemeClr val="accent3"/>
          </a:solidFill>
          <a:ln/>
        </p:spPr>
      </p:sp>
      <p:pic>
        <p:nvPicPr>
          <p:cNvPr id="20" name="icon-19" descr="icon">    </p:cNvPr>
          <p:cNvPicPr>
            <a:picLocks noChangeAspect="1"/>
          </p:cNvPicPr>
          <p:nvPr/>
        </p:nvPicPr>
        <p:blipFill>
          <a:blip r:embed="rId4"/>
          <a:stretch>
            <a:fillRect/>
          </a:stretch>
        </p:blipFill>
        <p:spPr>
          <a:xfrm>
            <a:off x="5121737" y="1381841"/>
            <a:ext cx="272125" cy="272125"/>
          </a:xfrm>
          <a:prstGeom prst="rect">
            <a:avLst/>
          </a:prstGeom>
        </p:spPr>
      </p:pic>
      <p:sp>
        <p:nvSpPr>
          <p:cNvPr id="21" name="text-20"/>
          <p:cNvSpPr txBox="1"/>
          <p:nvPr/>
        </p:nvSpPr>
        <p:spPr>
          <a:xfrm>
            <a:off x="4572000" y="1892808"/>
            <a:ext cx="1371600" cy="274320"/>
          </a:xfrm>
          <a:prstGeom prst="rect">
            <a:avLst/>
          </a:prstGeom>
          <a:noFill/>
          <a:ln/>
        </p:spPr>
        <p:txBody>
          <a:bodyPr wrap="square" lIns="0" tIns="0" rIns="0" bIns="0" rtlCol="0" anchor="t"/>
          <a:lstStyle/>
          <a:p>
            <a:pPr algn="ctr" indent="0" marL="0">
              <a:buNone/>
            </a:pPr>
            <a:r>
              <a:rPr lang="en-US" sz="1400" b="1" dirty="0">
                <a:solidFill>
                  <a:schemeClr val="tx2"/>
                </a:solidFill>
              </a:rPr>
              <a:t>Build</a:t>
            </a:r>
            <a:endParaRPr lang="en-US" sz="1400" dirty="0"/>
          </a:p>
        </p:txBody>
      </p:sp>
      <p:sp>
        <p:nvSpPr>
          <p:cNvPr id="22" name="text-21"/>
          <p:cNvSpPr txBox="1"/>
          <p:nvPr/>
        </p:nvSpPr>
        <p:spPr>
          <a:xfrm>
            <a:off x="4572000" y="2157984"/>
            <a:ext cx="1371600" cy="228600"/>
          </a:xfrm>
          <a:prstGeom prst="rect">
            <a:avLst/>
          </a:prstGeom>
          <a:noFill/>
          <a:ln/>
        </p:spPr>
        <p:txBody>
          <a:bodyPr wrap="square" lIns="0" tIns="0" rIns="0" bIns="0" rtlCol="0" anchor="t"/>
          <a:lstStyle/>
          <a:p>
            <a:pPr algn="ctr" indent="0" marL="0">
              <a:buNone/>
            </a:pPr>
            <a:r>
              <a:rPr lang="en-US" sz="1100" dirty="0">
                <a:solidFill>
                  <a:schemeClr val="accent5"/>
                </a:solidFill>
              </a:rPr>
              <a:t>27 Oct</a:t>
            </a:r>
            <a:endParaRPr lang="en-US" sz="1100" dirty="0"/>
          </a:p>
        </p:txBody>
      </p:sp>
      <p:sp>
        <p:nvSpPr>
          <p:cNvPr id="23" name="text-22"/>
          <p:cNvSpPr txBox="1"/>
          <p:nvPr/>
        </p:nvSpPr>
        <p:spPr>
          <a:xfrm>
            <a:off x="4645152" y="2395728"/>
            <a:ext cx="1225296" cy="594360"/>
          </a:xfrm>
          <a:prstGeom prst="rect">
            <a:avLst/>
          </a:prstGeom>
          <a:noFill/>
          <a:ln/>
        </p:spPr>
        <p:txBody>
          <a:bodyPr wrap="square" lIns="0" tIns="0" rIns="0" bIns="0" rtlCol="0" anchor="t"/>
          <a:lstStyle/>
          <a:p>
            <a:pPr algn="ctr" indent="0" marL="0">
              <a:buNone/>
            </a:pPr>
            <a:r>
              <a:rPr lang="en-US" sz="1100" dirty="0">
                <a:solidFill>
                  <a:schemeClr val="tx1"/>
                </a:solidFill>
              </a:rPr>
              <a:t>Agents build slices S1a to S4</a:t>
            </a:r>
            <a:endParaRPr lang="en-US" sz="1100" dirty="0"/>
          </a:p>
        </p:txBody>
      </p:sp>
      <p:sp>
        <p:nvSpPr>
          <p:cNvPr id="24" name="icon-circle-23"/>
          <p:cNvSpPr/>
          <p:nvPr/>
        </p:nvSpPr>
        <p:spPr>
          <a:xfrm>
            <a:off x="6345936" y="1234440"/>
            <a:ext cx="566928" cy="566928"/>
          </a:xfrm>
          <a:prstGeom prst="ellipse">
            <a:avLst/>
          </a:prstGeom>
          <a:solidFill>
            <a:schemeClr val="accent3"/>
          </a:solidFill>
          <a:ln/>
        </p:spPr>
      </p:sp>
      <p:pic>
        <p:nvPicPr>
          <p:cNvPr id="25" name="icon-24" descr="icon">    </p:cNvPr>
          <p:cNvPicPr>
            <a:picLocks noChangeAspect="1"/>
          </p:cNvPicPr>
          <p:nvPr/>
        </p:nvPicPr>
        <p:blipFill>
          <a:blip r:embed="rId5"/>
          <a:stretch>
            <a:fillRect/>
          </a:stretch>
        </p:blipFill>
        <p:spPr>
          <a:xfrm>
            <a:off x="6493337" y="1381841"/>
            <a:ext cx="272125" cy="272125"/>
          </a:xfrm>
          <a:prstGeom prst="rect">
            <a:avLst/>
          </a:prstGeom>
        </p:spPr>
      </p:pic>
      <p:sp>
        <p:nvSpPr>
          <p:cNvPr id="26" name="text-25"/>
          <p:cNvSpPr txBox="1"/>
          <p:nvPr/>
        </p:nvSpPr>
        <p:spPr>
          <a:xfrm>
            <a:off x="5943600" y="1892808"/>
            <a:ext cx="1371600" cy="274320"/>
          </a:xfrm>
          <a:prstGeom prst="rect">
            <a:avLst/>
          </a:prstGeom>
          <a:noFill/>
          <a:ln/>
        </p:spPr>
        <p:txBody>
          <a:bodyPr wrap="square" lIns="0" tIns="0" rIns="0" bIns="0" rtlCol="0" anchor="t"/>
          <a:lstStyle/>
          <a:p>
            <a:pPr algn="ctr" indent="0" marL="0">
              <a:buNone/>
            </a:pPr>
            <a:r>
              <a:rPr lang="en-US" sz="1400" b="1" dirty="0">
                <a:solidFill>
                  <a:schemeClr val="tx2"/>
                </a:solidFill>
              </a:rPr>
              <a:t>Review</a:t>
            </a:r>
            <a:endParaRPr lang="en-US" sz="1400" dirty="0"/>
          </a:p>
        </p:txBody>
      </p:sp>
      <p:sp>
        <p:nvSpPr>
          <p:cNvPr id="27" name="text-26"/>
          <p:cNvSpPr txBox="1"/>
          <p:nvPr/>
        </p:nvSpPr>
        <p:spPr>
          <a:xfrm>
            <a:off x="5943600" y="2157984"/>
            <a:ext cx="1371600" cy="228600"/>
          </a:xfrm>
          <a:prstGeom prst="rect">
            <a:avLst/>
          </a:prstGeom>
          <a:noFill/>
          <a:ln/>
        </p:spPr>
        <p:txBody>
          <a:bodyPr wrap="square" lIns="0" tIns="0" rIns="0" bIns="0" rtlCol="0" anchor="t"/>
          <a:lstStyle/>
          <a:p>
            <a:pPr algn="ctr" indent="0" marL="0">
              <a:buNone/>
            </a:pPr>
            <a:r>
              <a:rPr lang="en-US" sz="1100" dirty="0">
                <a:solidFill>
                  <a:schemeClr val="accent5"/>
                </a:solidFill>
              </a:rPr>
              <a:t>27 Oct</a:t>
            </a:r>
            <a:endParaRPr lang="en-US" sz="1100" dirty="0"/>
          </a:p>
        </p:txBody>
      </p:sp>
      <p:sp>
        <p:nvSpPr>
          <p:cNvPr id="28" name="text-27"/>
          <p:cNvSpPr txBox="1"/>
          <p:nvPr/>
        </p:nvSpPr>
        <p:spPr>
          <a:xfrm>
            <a:off x="6016752" y="2395728"/>
            <a:ext cx="1225296" cy="594360"/>
          </a:xfrm>
          <a:prstGeom prst="rect">
            <a:avLst/>
          </a:prstGeom>
          <a:noFill/>
          <a:ln/>
        </p:spPr>
        <p:txBody>
          <a:bodyPr wrap="square" lIns="0" tIns="0" rIns="0" bIns="0" rtlCol="0" anchor="t"/>
          <a:lstStyle/>
          <a:p>
            <a:pPr algn="ctr" indent="0" marL="0">
              <a:buNone/>
            </a:pPr>
            <a:r>
              <a:rPr lang="en-US" sz="1100" dirty="0">
                <a:solidFill>
                  <a:schemeClr val="tx1"/>
                </a:solidFill>
              </a:rPr>
              <a:t>Fresh-context code and security reviews</a:t>
            </a:r>
            <a:endParaRPr lang="en-US" sz="1100" dirty="0"/>
          </a:p>
        </p:txBody>
      </p:sp>
      <p:sp>
        <p:nvSpPr>
          <p:cNvPr id="29" name="icon-circle-28"/>
          <p:cNvSpPr/>
          <p:nvPr/>
        </p:nvSpPr>
        <p:spPr>
          <a:xfrm>
            <a:off x="7717536" y="1234440"/>
            <a:ext cx="566928" cy="566928"/>
          </a:xfrm>
          <a:prstGeom prst="ellipse">
            <a:avLst/>
          </a:prstGeom>
          <a:solidFill>
            <a:schemeClr val="accent2"/>
          </a:solidFill>
          <a:ln/>
        </p:spPr>
      </p:sp>
      <p:pic>
        <p:nvPicPr>
          <p:cNvPr id="30" name="icon-29" descr="icon">    </p:cNvPr>
          <p:cNvPicPr>
            <a:picLocks noChangeAspect="1"/>
          </p:cNvPicPr>
          <p:nvPr/>
        </p:nvPicPr>
        <p:blipFill>
          <a:blip r:embed="rId6"/>
          <a:stretch>
            <a:fillRect/>
          </a:stretch>
        </p:blipFill>
        <p:spPr>
          <a:xfrm>
            <a:off x="7864937" y="1381841"/>
            <a:ext cx="272125" cy="272125"/>
          </a:xfrm>
          <a:prstGeom prst="rect">
            <a:avLst/>
          </a:prstGeom>
        </p:spPr>
      </p:pic>
      <p:sp>
        <p:nvSpPr>
          <p:cNvPr id="31" name="text-30"/>
          <p:cNvSpPr txBox="1"/>
          <p:nvPr/>
        </p:nvSpPr>
        <p:spPr>
          <a:xfrm>
            <a:off x="7315200" y="1892808"/>
            <a:ext cx="1371600" cy="274320"/>
          </a:xfrm>
          <a:prstGeom prst="rect">
            <a:avLst/>
          </a:prstGeom>
          <a:noFill/>
          <a:ln/>
        </p:spPr>
        <p:txBody>
          <a:bodyPr wrap="square" lIns="0" tIns="0" rIns="0" bIns="0" rtlCol="0" anchor="t"/>
          <a:lstStyle/>
          <a:p>
            <a:pPr algn="ctr" indent="0" marL="0">
              <a:buNone/>
            </a:pPr>
            <a:r>
              <a:rPr lang="en-US" sz="1400" b="1" dirty="0">
                <a:solidFill>
                  <a:schemeClr val="tx2"/>
                </a:solidFill>
              </a:rPr>
              <a:t>Demo</a:t>
            </a:r>
            <a:endParaRPr lang="en-US" sz="1400" dirty="0"/>
          </a:p>
        </p:txBody>
      </p:sp>
      <p:sp>
        <p:nvSpPr>
          <p:cNvPr id="32" name="text-31"/>
          <p:cNvSpPr txBox="1"/>
          <p:nvPr/>
        </p:nvSpPr>
        <p:spPr>
          <a:xfrm>
            <a:off x="7315200" y="2157984"/>
            <a:ext cx="1371600" cy="228600"/>
          </a:xfrm>
          <a:prstGeom prst="rect">
            <a:avLst/>
          </a:prstGeom>
          <a:noFill/>
          <a:ln/>
        </p:spPr>
        <p:txBody>
          <a:bodyPr wrap="square" lIns="0" tIns="0" rIns="0" bIns="0" rtlCol="0" anchor="t"/>
          <a:lstStyle/>
          <a:p>
            <a:pPr algn="ctr" indent="0" marL="0">
              <a:buNone/>
            </a:pPr>
            <a:r>
              <a:rPr lang="en-US" sz="1100" dirty="0">
                <a:solidFill>
                  <a:schemeClr val="accent5"/>
                </a:solidFill>
              </a:rPr>
              <a:t>28 Oct</a:t>
            </a:r>
            <a:endParaRPr lang="en-US" sz="1100" dirty="0"/>
          </a:p>
        </p:txBody>
      </p:sp>
      <p:sp>
        <p:nvSpPr>
          <p:cNvPr id="33" name="text-32"/>
          <p:cNvSpPr txBox="1"/>
          <p:nvPr/>
        </p:nvSpPr>
        <p:spPr>
          <a:xfrm>
            <a:off x="7388352" y="2395728"/>
            <a:ext cx="1225296" cy="594360"/>
          </a:xfrm>
          <a:prstGeom prst="rect">
            <a:avLst/>
          </a:prstGeom>
          <a:noFill/>
          <a:ln/>
        </p:spPr>
        <p:txBody>
          <a:bodyPr wrap="square" lIns="0" tIns="0" rIns="0" bIns="0" rtlCol="0" anchor="t"/>
          <a:lstStyle/>
          <a:p>
            <a:pPr algn="ctr" indent="0" marL="0">
              <a:buNone/>
            </a:pPr>
            <a:r>
              <a:rPr lang="en-US" sz="1100" dirty="0">
                <a:solidFill>
                  <a:schemeClr val="tx1"/>
                </a:solidFill>
              </a:rPr>
              <a:t>Narrated video of the API in Scalar</a:t>
            </a:r>
            <a:endParaRPr lang="en-US" sz="1100" dirty="0"/>
          </a:p>
        </p:txBody>
      </p:sp>
      <p:sp>
        <p:nvSpPr>
          <p:cNvPr id="34" name="card-33"/>
          <p:cNvSpPr/>
          <p:nvPr/>
        </p:nvSpPr>
        <p:spPr>
          <a:xfrm>
            <a:off x="457200" y="3246120"/>
            <a:ext cx="1920240" cy="1325880"/>
          </a:xfrm>
          <a:prstGeom prst="roundRect">
            <a:avLst>
              <a:gd name="adj" fmla="val 5517"/>
            </a:avLst>
          </a:prstGeom>
          <a:solidFill>
            <a:schemeClr val="bg2"/>
          </a:solidFill>
          <a:ln/>
        </p:spPr>
      </p:sp>
      <p:sp>
        <p:nvSpPr>
          <p:cNvPr id="35" name="text-34"/>
          <p:cNvSpPr txBox="1"/>
          <p:nvPr/>
        </p:nvSpPr>
        <p:spPr>
          <a:xfrm>
            <a:off x="640080" y="3291840"/>
            <a:ext cx="1645920" cy="594360"/>
          </a:xfrm>
          <a:prstGeom prst="rect">
            <a:avLst/>
          </a:prstGeom>
          <a:noFill/>
          <a:ln/>
        </p:spPr>
        <p:txBody>
          <a:bodyPr wrap="square" lIns="0" tIns="0" rIns="0" bIns="0" rtlCol="0" anchor="b"/>
          <a:lstStyle/>
          <a:p>
            <a:pPr indent="0" marL="0">
              <a:buNone/>
            </a:pPr>
            <a:r>
              <a:rPr lang="en-US" sz="3600" b="1" dirty="0">
                <a:solidFill>
                  <a:schemeClr val="accent1"/>
                </a:solidFill>
              </a:rPr>
              <a:t>68</a:t>
            </a:r>
            <a:endParaRPr lang="en-US" sz="3600" dirty="0"/>
          </a:p>
        </p:txBody>
      </p:sp>
      <p:sp>
        <p:nvSpPr>
          <p:cNvPr id="36" name="text-35"/>
          <p:cNvSpPr txBox="1"/>
          <p:nvPr/>
        </p:nvSpPr>
        <p:spPr>
          <a:xfrm>
            <a:off x="640080" y="3931920"/>
            <a:ext cx="1645920" cy="457200"/>
          </a:xfrm>
          <a:prstGeom prst="rect">
            <a:avLst/>
          </a:prstGeom>
          <a:noFill/>
          <a:ln/>
        </p:spPr>
        <p:txBody>
          <a:bodyPr wrap="square" lIns="0" tIns="0" rIns="0" bIns="0" rtlCol="0" anchor="t"/>
          <a:lstStyle/>
          <a:p>
            <a:pPr indent="0" marL="0">
              <a:buNone/>
            </a:pPr>
            <a:r>
              <a:rPr lang="en-US" sz="1200" dirty="0">
                <a:solidFill>
                  <a:schemeClr val="tx1"/>
                </a:solidFill>
              </a:rPr>
              <a:t>decisions logged with an ID</a:t>
            </a:r>
            <a:endParaRPr lang="en-US" sz="1200" dirty="0"/>
          </a:p>
        </p:txBody>
      </p:sp>
      <p:sp>
        <p:nvSpPr>
          <p:cNvPr id="37" name="card-36"/>
          <p:cNvSpPr/>
          <p:nvPr/>
        </p:nvSpPr>
        <p:spPr>
          <a:xfrm>
            <a:off x="2560320" y="3246120"/>
            <a:ext cx="1920240" cy="1325880"/>
          </a:xfrm>
          <a:prstGeom prst="roundRect">
            <a:avLst>
              <a:gd name="adj" fmla="val 5517"/>
            </a:avLst>
          </a:prstGeom>
          <a:solidFill>
            <a:schemeClr val="bg2"/>
          </a:solidFill>
          <a:ln/>
        </p:spPr>
      </p:sp>
      <p:sp>
        <p:nvSpPr>
          <p:cNvPr id="38" name="text-37"/>
          <p:cNvSpPr txBox="1"/>
          <p:nvPr/>
        </p:nvSpPr>
        <p:spPr>
          <a:xfrm>
            <a:off x="2743200" y="3291840"/>
            <a:ext cx="1645920" cy="594360"/>
          </a:xfrm>
          <a:prstGeom prst="rect">
            <a:avLst/>
          </a:prstGeom>
          <a:noFill/>
          <a:ln/>
        </p:spPr>
        <p:txBody>
          <a:bodyPr wrap="square" lIns="0" tIns="0" rIns="0" bIns="0" rtlCol="0" anchor="b"/>
          <a:lstStyle/>
          <a:p>
            <a:pPr indent="0" marL="0">
              <a:buNone/>
            </a:pPr>
            <a:r>
              <a:rPr lang="en-US" sz="3600" b="1" dirty="0">
                <a:solidFill>
                  <a:schemeClr val="accent1"/>
                </a:solidFill>
              </a:rPr>
              <a:t>30</a:t>
            </a:r>
            <a:endParaRPr lang="en-US" sz="3600" dirty="0"/>
          </a:p>
        </p:txBody>
      </p:sp>
      <p:sp>
        <p:nvSpPr>
          <p:cNvPr id="39" name="text-38"/>
          <p:cNvSpPr txBox="1"/>
          <p:nvPr/>
        </p:nvSpPr>
        <p:spPr>
          <a:xfrm>
            <a:off x="2743200" y="3931920"/>
            <a:ext cx="1645920" cy="457200"/>
          </a:xfrm>
          <a:prstGeom prst="rect">
            <a:avLst/>
          </a:prstGeom>
          <a:noFill/>
          <a:ln/>
        </p:spPr>
        <p:txBody>
          <a:bodyPr wrap="square" lIns="0" tIns="0" rIns="0" bIns="0" rtlCol="0" anchor="t"/>
          <a:lstStyle/>
          <a:p>
            <a:pPr indent="0" marL="0">
              <a:buNone/>
            </a:pPr>
            <a:r>
              <a:rPr lang="en-US" sz="1200" dirty="0">
                <a:solidFill>
                  <a:schemeClr val="tx1"/>
                </a:solidFill>
              </a:rPr>
              <a:t>agent calls by 16 agent types</a:t>
            </a:r>
            <a:endParaRPr lang="en-US" sz="1200" dirty="0"/>
          </a:p>
        </p:txBody>
      </p:sp>
      <p:sp>
        <p:nvSpPr>
          <p:cNvPr id="40" name="card-39"/>
          <p:cNvSpPr/>
          <p:nvPr/>
        </p:nvSpPr>
        <p:spPr>
          <a:xfrm>
            <a:off x="4663440" y="3246120"/>
            <a:ext cx="1920240" cy="1325880"/>
          </a:xfrm>
          <a:prstGeom prst="roundRect">
            <a:avLst>
              <a:gd name="adj" fmla="val 5517"/>
            </a:avLst>
          </a:prstGeom>
          <a:solidFill>
            <a:schemeClr val="bg2"/>
          </a:solidFill>
          <a:ln/>
        </p:spPr>
      </p:sp>
      <p:sp>
        <p:nvSpPr>
          <p:cNvPr id="41" name="text-40"/>
          <p:cNvSpPr txBox="1"/>
          <p:nvPr/>
        </p:nvSpPr>
        <p:spPr>
          <a:xfrm>
            <a:off x="4846320" y="3291840"/>
            <a:ext cx="1645920" cy="594360"/>
          </a:xfrm>
          <a:prstGeom prst="rect">
            <a:avLst/>
          </a:prstGeom>
          <a:noFill/>
          <a:ln/>
        </p:spPr>
        <p:txBody>
          <a:bodyPr wrap="square" lIns="0" tIns="0" rIns="0" bIns="0" rtlCol="0" anchor="b"/>
          <a:lstStyle/>
          <a:p>
            <a:pPr indent="0" marL="0">
              <a:buNone/>
            </a:pPr>
            <a:r>
              <a:rPr lang="en-US" sz="3600" b="1" dirty="0">
                <a:solidFill>
                  <a:schemeClr val="accent1"/>
                </a:solidFill>
              </a:rPr>
              <a:t>168</a:t>
            </a:r>
            <a:endParaRPr lang="en-US" sz="3600" dirty="0"/>
          </a:p>
        </p:txBody>
      </p:sp>
      <p:sp>
        <p:nvSpPr>
          <p:cNvPr id="42" name="text-41"/>
          <p:cNvSpPr txBox="1"/>
          <p:nvPr/>
        </p:nvSpPr>
        <p:spPr>
          <a:xfrm>
            <a:off x="4846320" y="3931920"/>
            <a:ext cx="1645920" cy="457200"/>
          </a:xfrm>
          <a:prstGeom prst="rect">
            <a:avLst/>
          </a:prstGeom>
          <a:noFill/>
          <a:ln/>
        </p:spPr>
        <p:txBody>
          <a:bodyPr wrap="square" lIns="0" tIns="0" rIns="0" bIns="0" rtlCol="0" anchor="t"/>
          <a:lstStyle/>
          <a:p>
            <a:pPr indent="0" marL="0">
              <a:buNone/>
            </a:pPr>
            <a:r>
              <a:rPr lang="en-US" sz="1200" dirty="0">
                <a:solidFill>
                  <a:schemeClr val="tx1"/>
                </a:solidFill>
              </a:rPr>
              <a:t>Azure DevOps work items</a:t>
            </a:r>
            <a:endParaRPr lang="en-US" sz="1200" dirty="0"/>
          </a:p>
        </p:txBody>
      </p:sp>
      <p:sp>
        <p:nvSpPr>
          <p:cNvPr id="43" name="card-42"/>
          <p:cNvSpPr/>
          <p:nvPr/>
        </p:nvSpPr>
        <p:spPr>
          <a:xfrm>
            <a:off x="6766560" y="3246120"/>
            <a:ext cx="1920240" cy="1325880"/>
          </a:xfrm>
          <a:prstGeom prst="roundRect">
            <a:avLst>
              <a:gd name="adj" fmla="val 5517"/>
            </a:avLst>
          </a:prstGeom>
          <a:solidFill>
            <a:schemeClr val="bg2"/>
          </a:solidFill>
          <a:ln/>
        </p:spPr>
      </p:sp>
      <p:sp>
        <p:nvSpPr>
          <p:cNvPr id="44" name="text-43"/>
          <p:cNvSpPr txBox="1"/>
          <p:nvPr/>
        </p:nvSpPr>
        <p:spPr>
          <a:xfrm>
            <a:off x="6949440" y="3291840"/>
            <a:ext cx="1645920" cy="594360"/>
          </a:xfrm>
          <a:prstGeom prst="rect">
            <a:avLst/>
          </a:prstGeom>
          <a:noFill/>
          <a:ln/>
        </p:spPr>
        <p:txBody>
          <a:bodyPr wrap="square" lIns="0" tIns="0" rIns="0" bIns="0" rtlCol="0" anchor="b"/>
          <a:lstStyle/>
          <a:p>
            <a:pPr indent="0" marL="0">
              <a:buNone/>
            </a:pPr>
            <a:r>
              <a:rPr lang="en-US" sz="3600" b="1" dirty="0">
                <a:solidFill>
                  <a:schemeClr val="accent1"/>
                </a:solidFill>
              </a:rPr>
              <a:t>401</a:t>
            </a:r>
            <a:endParaRPr lang="en-US" sz="3600" dirty="0"/>
          </a:p>
        </p:txBody>
      </p:sp>
      <p:sp>
        <p:nvSpPr>
          <p:cNvPr id="45" name="text-44"/>
          <p:cNvSpPr txBox="1"/>
          <p:nvPr/>
        </p:nvSpPr>
        <p:spPr>
          <a:xfrm>
            <a:off x="6949440" y="3931920"/>
            <a:ext cx="1645920" cy="457200"/>
          </a:xfrm>
          <a:prstGeom prst="rect">
            <a:avLst/>
          </a:prstGeom>
          <a:noFill/>
          <a:ln/>
        </p:spPr>
        <p:txBody>
          <a:bodyPr wrap="square" lIns="0" tIns="0" rIns="0" bIns="0" rtlCol="0" anchor="t"/>
          <a:lstStyle/>
          <a:p>
            <a:pPr indent="0" marL="0">
              <a:buNone/>
            </a:pPr>
            <a:r>
              <a:rPr lang="en-US" sz="1200" dirty="0">
                <a:solidFill>
                  <a:schemeClr val="tx1"/>
                </a:solidFill>
              </a:rPr>
              <a:t>automated tests passing</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It started with a reusable prompt brief</a:t>
            </a:r>
            <a:endParaRPr lang="en-US" sz="3000" dirty="0"/>
          </a:p>
        </p:txBody>
      </p:sp>
      <p:sp>
        <p:nvSpPr>
          <p:cNvPr id="3" name="text-45"/>
          <p:cNvSpPr txBox="1"/>
          <p:nvPr/>
        </p:nvSpPr>
        <p:spPr>
          <a:xfrm>
            <a:off x="457200" y="118872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One file: </a:t>
            </a:r>
            <a:pPr indent="0" marL="0">
              <a:buNone/>
            </a:pPr>
            <a:r>
              <a:rPr lang="en-US" sz="1400" dirty="0">
                <a:solidFill>
                  <a:schemeClr val="tx1"/>
                </a:solidFill>
              </a:rPr>
              <a:t>product-brainstorm-template-dotnet10-webapi.md, pasted into Claude Code</a:t>
            </a:r>
            <a:endParaRPr lang="en-US" sz="1400" dirty="0"/>
          </a:p>
          <a:p>
            <a:pPr marL="177800" indent="-177800">
              <a:spcAft>
                <a:spcPts val="600"/>
              </a:spcAft>
              <a:buSzPct val="100000"/>
              <a:buChar char="•"/>
            </a:pPr>
            <a:r>
              <a:rPr lang="en-US" sz="1400" b="1" dirty="0">
                <a:solidFill>
                  <a:schemeClr val="tx1"/>
                </a:solidFill>
              </a:rPr>
              <a:t>First rule: </a:t>
            </a:r>
            <a:pPr indent="0" marL="0">
              <a:buNone/>
            </a:pPr>
            <a:r>
              <a:rPr lang="en-US" sz="1400" dirty="0">
                <a:solidFill>
                  <a:schemeClr val="tx1"/>
                </a:solidFill>
              </a:rPr>
              <a:t>brainstorm first, no application code until the plan is approved</a:t>
            </a:r>
            <a:endParaRPr lang="en-US" sz="1400" dirty="0"/>
          </a:p>
          <a:p>
            <a:pPr marL="177800" indent="-177800">
              <a:spcAft>
                <a:spcPts val="600"/>
              </a:spcAft>
              <a:buSzPct val="100000"/>
              <a:buChar char="•"/>
            </a:pPr>
            <a:r>
              <a:rPr lang="en-US" sz="1400" b="1" dirty="0">
                <a:solidFill>
                  <a:schemeClr val="tx1"/>
                </a:solidFill>
              </a:rPr>
              <a:t>Stack is fixed: </a:t>
            </a:r>
            <a:pPr indent="0" marL="0">
              <a:buNone/>
            </a:pPr>
            <a:r>
              <a:rPr lang="en-US" sz="1400" dirty="0">
                <a:solidFill>
                  <a:schemeClr val="tx1"/>
                </a:solidFill>
              </a:rPr>
              <a:t>Claude may only raise risks in an “Advice” section</a:t>
            </a:r>
            <a:endParaRPr lang="en-US" sz="1400" dirty="0"/>
          </a:p>
          <a:p>
            <a:pPr marL="177800" indent="-177800">
              <a:spcAft>
                <a:spcPts val="600"/>
              </a:spcAft>
              <a:buSzPct val="100000"/>
              <a:buChar char="•"/>
            </a:pPr>
            <a:r>
              <a:rPr lang="en-US" sz="1400" b="1" dirty="0">
                <a:solidFill>
                  <a:schemeClr val="tx1"/>
                </a:solidFill>
              </a:rPr>
              <a:t>13 open questions </a:t>
            </a:r>
            <a:pPr indent="0" marL="0">
              <a:buNone/>
            </a:pPr>
            <a:r>
              <a:rPr lang="en-US" sz="1400" dirty="0">
                <a:solidFill>
                  <a:schemeClr val="tx1"/>
                </a:solidFill>
              </a:rPr>
              <a:t>(order statuses, refresh tokens, customer delete…) answered in the plan</a:t>
            </a:r>
            <a:endParaRPr lang="en-US" sz="1400" dirty="0"/>
          </a:p>
          <a:p>
            <a:pPr marL="177800" indent="-177800">
              <a:spcAft>
                <a:spcPts val="600"/>
              </a:spcAft>
              <a:buSzPct val="100000"/>
              <a:buChar char="•"/>
            </a:pPr>
            <a:r>
              <a:rPr lang="en-US" sz="1400" b="1" dirty="0">
                <a:solidFill>
                  <a:schemeClr val="tx1"/>
                </a:solidFill>
              </a:rPr>
              <a:t>Reusable: </a:t>
            </a:r>
            <a:pPr indent="0" marL="0">
              <a:buNone/>
            </a:pPr>
            <a:r>
              <a:rPr lang="en-US" sz="1400" dirty="0">
                <a:solidFill>
                  <a:schemeClr val="tx1"/>
                </a:solidFill>
              </a:rPr>
              <a:t>swap sections 1-9 for the next product</a:t>
            </a:r>
            <a:endParaRPr lang="en-US" sz="1400" dirty="0"/>
          </a:p>
        </p:txBody>
      </p:sp>
      <p:sp>
        <p:nvSpPr>
          <p:cNvPr id="4" name="text-46"/>
          <p:cNvSpPr txBox="1"/>
          <p:nvPr/>
        </p:nvSpPr>
        <p:spPr>
          <a:xfrm>
            <a:off x="4846320" y="1188720"/>
            <a:ext cx="3840480" cy="274320"/>
          </a:xfrm>
          <a:prstGeom prst="rect">
            <a:avLst/>
          </a:prstGeom>
          <a:noFill/>
          <a:ln/>
        </p:spPr>
        <p:txBody>
          <a:bodyPr wrap="square" lIns="0" tIns="0" rIns="0" bIns="0" rtlCol="0" anchor="t"/>
          <a:lstStyle/>
          <a:p>
            <a:pPr indent="0" marL="0">
              <a:buNone/>
            </a:pPr>
            <a:r>
              <a:rPr lang="en-US" sz="1300" b="1" dirty="0">
                <a:solidFill>
                  <a:schemeClr val="accent5"/>
                </a:solidFill>
              </a:rPr>
              <a:t>Fixed stack</a:t>
            </a:r>
            <a:endParaRPr lang="en-US" sz="1300" dirty="0"/>
          </a:p>
        </p:txBody>
      </p:sp>
      <p:sp>
        <p:nvSpPr>
          <p:cNvPr id="5" name="chip-47"/>
          <p:cNvSpPr/>
          <p:nvPr/>
        </p:nvSpPr>
        <p:spPr>
          <a:xfrm>
            <a:off x="4846320" y="1554480"/>
            <a:ext cx="1828800" cy="384048"/>
          </a:xfrm>
          <a:prstGeom prst="roundRect">
            <a:avLst>
              <a:gd name="adj" fmla="val 50000"/>
            </a:avLst>
          </a:prstGeom>
          <a:solidFill>
            <a:schemeClr val="bg2"/>
          </a:solidFill>
          <a:ln w="9525">
            <a:solidFill>
              <a:srgbClr val="D6D1E6"/>
            </a:solidFill>
            <a:prstDash val="solid"/>
          </a:ln>
        </p:spPr>
      </p:sp>
      <p:sp>
        <p:nvSpPr>
          <p:cNvPr id="6" name="text-48"/>
          <p:cNvSpPr txBox="1"/>
          <p:nvPr/>
        </p:nvSpPr>
        <p:spPr>
          <a:xfrm>
            <a:off x="4846320" y="155448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.NET 10 Web API</a:t>
            </a:r>
            <a:endParaRPr lang="en-US" sz="1200" dirty="0"/>
          </a:p>
        </p:txBody>
      </p:sp>
      <p:sp>
        <p:nvSpPr>
          <p:cNvPr id="7" name="chip-49"/>
          <p:cNvSpPr/>
          <p:nvPr/>
        </p:nvSpPr>
        <p:spPr>
          <a:xfrm>
            <a:off x="6812280" y="1554480"/>
            <a:ext cx="1828800" cy="384048"/>
          </a:xfrm>
          <a:prstGeom prst="roundRect">
            <a:avLst>
              <a:gd name="adj" fmla="val 50000"/>
            </a:avLst>
          </a:prstGeom>
          <a:solidFill>
            <a:schemeClr val="bg2"/>
          </a:solidFill>
          <a:ln w="9525">
            <a:solidFill>
              <a:srgbClr val="D6D1E6"/>
            </a:solidFill>
            <a:prstDash val="solid"/>
          </a:ln>
        </p:spPr>
      </p:sp>
      <p:sp>
        <p:nvSpPr>
          <p:cNvPr id="8" name="text-50"/>
          <p:cNvSpPr txBox="1"/>
          <p:nvPr/>
        </p:nvSpPr>
        <p:spPr>
          <a:xfrm>
            <a:off x="6812280" y="155448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FastEndpoints</a:t>
            </a:r>
            <a:endParaRPr lang="en-US" sz="1200" dirty="0"/>
          </a:p>
        </p:txBody>
      </p:sp>
      <p:sp>
        <p:nvSpPr>
          <p:cNvPr id="9" name="chip-51"/>
          <p:cNvSpPr/>
          <p:nvPr/>
        </p:nvSpPr>
        <p:spPr>
          <a:xfrm>
            <a:off x="4846320" y="2057400"/>
            <a:ext cx="1828800" cy="384048"/>
          </a:xfrm>
          <a:prstGeom prst="roundRect">
            <a:avLst>
              <a:gd name="adj" fmla="val 50000"/>
            </a:avLst>
          </a:prstGeom>
          <a:solidFill>
            <a:schemeClr val="bg2"/>
          </a:solidFill>
          <a:ln w="9525">
            <a:solidFill>
              <a:srgbClr val="D6D1E6"/>
            </a:solidFill>
            <a:prstDash val="solid"/>
          </a:ln>
        </p:spPr>
      </p:sp>
      <p:sp>
        <p:nvSpPr>
          <p:cNvPr id="10" name="text-52"/>
          <p:cNvSpPr txBox="1"/>
          <p:nvPr/>
        </p:nvSpPr>
        <p:spPr>
          <a:xfrm>
            <a:off x="4846320" y="205740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Clean Arch + VSA + CQRS</a:t>
            </a:r>
            <a:endParaRPr lang="en-US" sz="1200" dirty="0"/>
          </a:p>
        </p:txBody>
      </p:sp>
      <p:sp>
        <p:nvSpPr>
          <p:cNvPr id="11" name="chip-53"/>
          <p:cNvSpPr/>
          <p:nvPr/>
        </p:nvSpPr>
        <p:spPr>
          <a:xfrm>
            <a:off x="6812280" y="2057400"/>
            <a:ext cx="1828800" cy="384048"/>
          </a:xfrm>
          <a:prstGeom prst="roundRect">
            <a:avLst>
              <a:gd name="adj" fmla="val 50000"/>
            </a:avLst>
          </a:prstGeom>
          <a:solidFill>
            <a:schemeClr val="bg2"/>
          </a:solidFill>
          <a:ln w="9525">
            <a:solidFill>
              <a:srgbClr val="D6D1E6"/>
            </a:solidFill>
            <a:prstDash val="solid"/>
          </a:ln>
        </p:spPr>
      </p:sp>
      <p:sp>
        <p:nvSpPr>
          <p:cNvPr id="12" name="text-54"/>
          <p:cNvSpPr txBox="1"/>
          <p:nvPr/>
        </p:nvSpPr>
        <p:spPr>
          <a:xfrm>
            <a:off x="6812280" y="205740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FluentValidation</a:t>
            </a:r>
            <a:endParaRPr lang="en-US" sz="1200" dirty="0"/>
          </a:p>
        </p:txBody>
      </p:sp>
      <p:sp>
        <p:nvSpPr>
          <p:cNvPr id="13" name="chip-55"/>
          <p:cNvSpPr/>
          <p:nvPr/>
        </p:nvSpPr>
        <p:spPr>
          <a:xfrm>
            <a:off x="4846320" y="2560320"/>
            <a:ext cx="1828800" cy="384048"/>
          </a:xfrm>
          <a:prstGeom prst="roundRect">
            <a:avLst>
              <a:gd name="adj" fmla="val 50000"/>
            </a:avLst>
          </a:prstGeom>
          <a:solidFill>
            <a:schemeClr val="bg2"/>
          </a:solidFill>
          <a:ln w="9525">
            <a:solidFill>
              <a:srgbClr val="D6D1E6"/>
            </a:solidFill>
            <a:prstDash val="solid"/>
          </a:ln>
        </p:spPr>
      </p:sp>
      <p:sp>
        <p:nvSpPr>
          <p:cNvPr id="14" name="text-56"/>
          <p:cNvSpPr txBox="1"/>
          <p:nvPr/>
        </p:nvSpPr>
        <p:spPr>
          <a:xfrm>
            <a:off x="4846320" y="256032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PostgreSQL 18</a:t>
            </a:r>
            <a:endParaRPr lang="en-US" sz="1200" dirty="0"/>
          </a:p>
        </p:txBody>
      </p:sp>
      <p:sp>
        <p:nvSpPr>
          <p:cNvPr id="15" name="chip-57"/>
          <p:cNvSpPr/>
          <p:nvPr/>
        </p:nvSpPr>
        <p:spPr>
          <a:xfrm>
            <a:off x="6812280" y="2560320"/>
            <a:ext cx="1828800" cy="384048"/>
          </a:xfrm>
          <a:prstGeom prst="roundRect">
            <a:avLst>
              <a:gd name="adj" fmla="val 50000"/>
            </a:avLst>
          </a:prstGeom>
          <a:solidFill>
            <a:schemeClr val="bg2"/>
          </a:solidFill>
          <a:ln w="9525">
            <a:solidFill>
              <a:srgbClr val="D6D1E6"/>
            </a:solidFill>
            <a:prstDash val="solid"/>
          </a:ln>
        </p:spPr>
      </p:sp>
      <p:sp>
        <p:nvSpPr>
          <p:cNvPr id="16" name="text-58"/>
          <p:cNvSpPr txBox="1"/>
          <p:nvPr/>
        </p:nvSpPr>
        <p:spPr>
          <a:xfrm>
            <a:off x="6812280" y="256032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Valkey 9.1 cache</a:t>
            </a:r>
            <a:endParaRPr lang="en-US" sz="1200" dirty="0"/>
          </a:p>
        </p:txBody>
      </p:sp>
      <p:sp>
        <p:nvSpPr>
          <p:cNvPr id="17" name="chip-59"/>
          <p:cNvSpPr/>
          <p:nvPr/>
        </p:nvSpPr>
        <p:spPr>
          <a:xfrm>
            <a:off x="4846320" y="3063240"/>
            <a:ext cx="1828800" cy="384048"/>
          </a:xfrm>
          <a:prstGeom prst="roundRect">
            <a:avLst>
              <a:gd name="adj" fmla="val 50000"/>
            </a:avLst>
          </a:prstGeom>
          <a:solidFill>
            <a:schemeClr val="bg2"/>
          </a:solidFill>
          <a:ln w="9525">
            <a:solidFill>
              <a:srgbClr val="D6D1E6"/>
            </a:solidFill>
            <a:prstDash val="solid"/>
          </a:ln>
        </p:spPr>
      </p:sp>
      <p:sp>
        <p:nvSpPr>
          <p:cNvPr id="18" name="text-60"/>
          <p:cNvSpPr txBox="1"/>
          <p:nvPr/>
        </p:nvSpPr>
        <p:spPr>
          <a:xfrm>
            <a:off x="4846320" y="306324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EF Core + Dapper</a:t>
            </a:r>
            <a:endParaRPr lang="en-US" sz="1200" dirty="0"/>
          </a:p>
        </p:txBody>
      </p:sp>
      <p:sp>
        <p:nvSpPr>
          <p:cNvPr id="19" name="chip-61"/>
          <p:cNvSpPr/>
          <p:nvPr/>
        </p:nvSpPr>
        <p:spPr>
          <a:xfrm>
            <a:off x="6812280" y="3063240"/>
            <a:ext cx="1828800" cy="384048"/>
          </a:xfrm>
          <a:prstGeom prst="roundRect">
            <a:avLst>
              <a:gd name="adj" fmla="val 50000"/>
            </a:avLst>
          </a:prstGeom>
          <a:solidFill>
            <a:schemeClr val="bg2"/>
          </a:solidFill>
          <a:ln w="9525">
            <a:solidFill>
              <a:srgbClr val="D6D1E6"/>
            </a:solidFill>
            <a:prstDash val="solid"/>
          </a:ln>
        </p:spPr>
      </p:sp>
      <p:sp>
        <p:nvSpPr>
          <p:cNvPr id="20" name="text-62"/>
          <p:cNvSpPr txBox="1"/>
          <p:nvPr/>
        </p:nvSpPr>
        <p:spPr>
          <a:xfrm>
            <a:off x="6812280" y="306324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Identity + own JWT</a:t>
            </a:r>
            <a:endParaRPr lang="en-US" sz="1200" dirty="0"/>
          </a:p>
        </p:txBody>
      </p:sp>
      <p:sp>
        <p:nvSpPr>
          <p:cNvPr id="21" name="chip-63"/>
          <p:cNvSpPr/>
          <p:nvPr/>
        </p:nvSpPr>
        <p:spPr>
          <a:xfrm>
            <a:off x="4846320" y="3566160"/>
            <a:ext cx="1828800" cy="384048"/>
          </a:xfrm>
          <a:prstGeom prst="roundRect">
            <a:avLst>
              <a:gd name="adj" fmla="val 50000"/>
            </a:avLst>
          </a:prstGeom>
          <a:solidFill>
            <a:schemeClr val="bg2"/>
          </a:solidFill>
          <a:ln w="9525">
            <a:solidFill>
              <a:srgbClr val="D6D1E6"/>
            </a:solidFill>
            <a:prstDash val="solid"/>
          </a:ln>
        </p:spPr>
      </p:sp>
      <p:sp>
        <p:nvSpPr>
          <p:cNvPr id="22" name="text-64"/>
          <p:cNvSpPr txBox="1"/>
          <p:nvPr/>
        </p:nvSpPr>
        <p:spPr>
          <a:xfrm>
            <a:off x="4846320" y="356616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Resilience</a:t>
            </a:r>
            <a:endParaRPr lang="en-US" sz="1200" dirty="0"/>
          </a:p>
        </p:txBody>
      </p:sp>
      <p:sp>
        <p:nvSpPr>
          <p:cNvPr id="23" name="chip-65"/>
          <p:cNvSpPr/>
          <p:nvPr/>
        </p:nvSpPr>
        <p:spPr>
          <a:xfrm>
            <a:off x="6812280" y="3566160"/>
            <a:ext cx="1828800" cy="384048"/>
          </a:xfrm>
          <a:prstGeom prst="roundRect">
            <a:avLst>
              <a:gd name="adj" fmla="val 50000"/>
            </a:avLst>
          </a:prstGeom>
          <a:solidFill>
            <a:schemeClr val="bg2"/>
          </a:solidFill>
          <a:ln w="9525">
            <a:solidFill>
              <a:srgbClr val="D6D1E6"/>
            </a:solidFill>
            <a:prstDash val="solid"/>
          </a:ln>
        </p:spPr>
      </p:sp>
      <p:sp>
        <p:nvSpPr>
          <p:cNvPr id="24" name="text-66"/>
          <p:cNvSpPr txBox="1"/>
          <p:nvPr/>
        </p:nvSpPr>
        <p:spPr>
          <a:xfrm>
            <a:off x="6812280" y="356616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Rate limiting</a:t>
            </a:r>
            <a:endParaRPr lang="en-US" sz="1200" dirty="0"/>
          </a:p>
        </p:txBody>
      </p:sp>
      <p:sp>
        <p:nvSpPr>
          <p:cNvPr id="25" name="chip-67"/>
          <p:cNvSpPr/>
          <p:nvPr/>
        </p:nvSpPr>
        <p:spPr>
          <a:xfrm>
            <a:off x="4846320" y="4069080"/>
            <a:ext cx="1828800" cy="384048"/>
          </a:xfrm>
          <a:prstGeom prst="roundRect">
            <a:avLst>
              <a:gd name="adj" fmla="val 50000"/>
            </a:avLst>
          </a:prstGeom>
          <a:solidFill>
            <a:schemeClr val="bg2"/>
          </a:solidFill>
          <a:ln w="9525">
            <a:solidFill>
              <a:srgbClr val="D6D1E6"/>
            </a:solidFill>
            <a:prstDash val="solid"/>
          </a:ln>
        </p:spPr>
      </p:sp>
      <p:sp>
        <p:nvSpPr>
          <p:cNvPr id="26" name="text-68"/>
          <p:cNvSpPr txBox="1"/>
          <p:nvPr/>
        </p:nvSpPr>
        <p:spPr>
          <a:xfrm>
            <a:off x="4846320" y="406908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xUnit v3 + Testcontainers</a:t>
            </a:r>
            <a:endParaRPr lang="en-US" sz="1200" dirty="0"/>
          </a:p>
        </p:txBody>
      </p:sp>
      <p:sp>
        <p:nvSpPr>
          <p:cNvPr id="27" name="chip-69"/>
          <p:cNvSpPr/>
          <p:nvPr/>
        </p:nvSpPr>
        <p:spPr>
          <a:xfrm>
            <a:off x="6812280" y="4069080"/>
            <a:ext cx="1828800" cy="384048"/>
          </a:xfrm>
          <a:prstGeom prst="roundRect">
            <a:avLst>
              <a:gd name="adj" fmla="val 50000"/>
            </a:avLst>
          </a:prstGeom>
          <a:solidFill>
            <a:schemeClr val="bg2"/>
          </a:solidFill>
          <a:ln w="9525">
            <a:solidFill>
              <a:srgbClr val="D6D1E6"/>
            </a:solidFill>
            <a:prstDash val="solid"/>
          </a:ln>
        </p:spPr>
      </p:sp>
      <p:sp>
        <p:nvSpPr>
          <p:cNvPr id="28" name="text-70"/>
          <p:cNvSpPr txBox="1"/>
          <p:nvPr/>
        </p:nvSpPr>
        <p:spPr>
          <a:xfrm>
            <a:off x="6812280" y="4069080"/>
            <a:ext cx="1828800" cy="384048"/>
          </a:xfrm>
          <a:prstGeom prst="rect">
            <a:avLst/>
          </a:prstGeom>
          <a:noFill/>
          <a:ln/>
        </p:spPr>
        <p:txBody>
          <a:bodyPr wrap="square" lIns="0" tIns="0" rIns="0" bIns="0" rtlCol="0" anchor="ctr"/>
          <a:lstStyle/>
          <a:p>
            <a:pPr algn="ctr" indent="0" marL="0">
              <a:buNone/>
            </a:pPr>
            <a:r>
              <a:rPr lang="en-US" sz="1200" dirty="0">
                <a:solidFill>
                  <a:schemeClr val="tx2"/>
                </a:solidFill>
              </a:rPr>
              <a:t>Azure Pipelines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Step zero: check versions and licences</a:t>
            </a:r>
            <a:endParaRPr lang="en-US" sz="3000" dirty="0"/>
          </a:p>
        </p:txBody>
      </p:sp>
      <p:sp>
        <p:nvSpPr>
          <p:cNvPr id="3" name="text-71"/>
          <p:cNvSpPr txBox="1"/>
          <p:nvPr/>
        </p:nvSpPr>
        <p:spPr>
          <a:xfrm>
            <a:off x="457200" y="1051560"/>
            <a:ext cx="8229600" cy="411480"/>
          </a:xfrm>
          <a:prstGeom prst="rect">
            <a:avLst/>
          </a:prstGeom>
          <a:noFill/>
          <a:ln/>
        </p:spPr>
        <p:txBody>
          <a:bodyPr wrap="square" lIns="0" tIns="0" rIns="0" bIns="0" rtlCol="0" anchor="t"/>
          <a:lstStyle/>
          <a:p>
            <a:pPr indent="0" marL="0">
              <a:buNone/>
            </a:pPr>
            <a:r>
              <a:rPr lang="en-US" sz="1400" dirty="0">
                <a:solidFill>
                  <a:schemeClr val="tx1"/>
                </a:solidFill>
              </a:rPr>
              <a:t>A general-purpose agent checked every package with web search before planning. Four choices in the brief changed.</a:t>
            </a:r>
            <a:endParaRPr lang="en-US" sz="1400" dirty="0"/>
          </a:p>
        </p:txBody>
      </p:sp>
      <p:sp>
        <p:nvSpPr>
          <p:cNvPr id="4" name="card-72"/>
          <p:cNvSpPr/>
          <p:nvPr/>
        </p:nvSpPr>
        <p:spPr>
          <a:xfrm>
            <a:off x="457200" y="1645920"/>
            <a:ext cx="4023360" cy="1325880"/>
          </a:xfrm>
          <a:prstGeom prst="roundRect">
            <a:avLst>
              <a:gd name="adj" fmla="val 5517"/>
            </a:avLst>
          </a:prstGeom>
          <a:solidFill>
            <a:schemeClr val="bg2"/>
          </a:solidFill>
          <a:ln/>
        </p:spPr>
      </p:sp>
      <p:sp>
        <p:nvSpPr>
          <p:cNvPr id="5" name="text-73"/>
          <p:cNvSpPr txBox="1"/>
          <p:nvPr/>
        </p:nvSpPr>
        <p:spPr>
          <a:xfrm>
            <a:off x="685800" y="1783080"/>
            <a:ext cx="3566160" cy="274320"/>
          </a:xfrm>
          <a:prstGeom prst="rect">
            <a:avLst/>
          </a:prstGeom>
          <a:noFill/>
          <a:ln/>
        </p:spPr>
        <p:txBody>
          <a:bodyPr wrap="square" lIns="0" tIns="0" rIns="0" bIns="0" rtlCol="0" anchor="ctr"/>
          <a:lstStyle/>
          <a:p>
            <a:pPr indent="0" marL="0">
              <a:buNone/>
            </a:pPr>
            <a:r>
              <a:rPr lang="en-US" sz="1300" strike="sngStrike" dirty="0">
                <a:solidFill>
                  <a:schemeClr val="accent5"/>
                </a:solidFill>
              </a:rPr>
              <a:t>Redis 8</a:t>
            </a:r>
            <a:endParaRPr lang="en-US" sz="1300" dirty="0"/>
          </a:p>
        </p:txBody>
      </p:sp>
      <p:sp>
        <p:nvSpPr>
          <p:cNvPr id="6" name="text-74"/>
          <p:cNvSpPr txBox="1"/>
          <p:nvPr/>
        </p:nvSpPr>
        <p:spPr>
          <a:xfrm>
            <a:off x="685800" y="2057400"/>
            <a:ext cx="3566160" cy="320040"/>
          </a:xfrm>
          <a:prstGeom prst="rect">
            <a:avLst/>
          </a:prstGeom>
          <a:noFill/>
          <a:ln/>
        </p:spPr>
        <p:txBody>
          <a:bodyPr wrap="square" lIns="0" tIns="0" rIns="0" bIns="0" rtlCol="0" anchor="ctr"/>
          <a:lstStyle/>
          <a:p>
            <a:pPr indent="0" marL="0">
              <a:buNone/>
            </a:pPr>
            <a:r>
              <a:rPr lang="en-US" sz="1500" b="1" dirty="0">
                <a:solidFill>
                  <a:schemeClr val="accent1"/>
                </a:solidFill>
              </a:rPr>
              <a:t>→  Valkey 9.1</a:t>
            </a:r>
            <a:endParaRPr lang="en-US" sz="1500" dirty="0"/>
          </a:p>
        </p:txBody>
      </p:sp>
      <p:sp>
        <p:nvSpPr>
          <p:cNvPr id="7" name="text-75"/>
          <p:cNvSpPr txBox="1"/>
          <p:nvPr/>
        </p:nvSpPr>
        <p:spPr>
          <a:xfrm>
            <a:off x="685800" y="2450592"/>
            <a:ext cx="3566160" cy="457200"/>
          </a:xfrm>
          <a:prstGeom prst="rect">
            <a:avLst/>
          </a:prstGeom>
          <a:noFill/>
          <a:ln/>
        </p:spPr>
        <p:txBody>
          <a:bodyPr wrap="square" lIns="0" tIns="0" rIns="0" bIns="0" rtlCol="0" anchor="t"/>
          <a:lstStyle/>
          <a:p>
            <a:pPr indent="0" marL="0">
              <a:buNone/>
            </a:pPr>
            <a:r>
              <a:rPr lang="en-US" sz="1200" dirty="0">
                <a:solidFill>
                  <a:schemeClr val="tx1"/>
                </a:solidFill>
              </a:rPr>
              <a:t>Redis 8 is RSALv2 / SSPL / AGPLv3; Valkey is BSD-3 and a drop-in</a:t>
            </a:r>
            <a:endParaRPr lang="en-US" sz="1200" dirty="0"/>
          </a:p>
        </p:txBody>
      </p:sp>
      <p:sp>
        <p:nvSpPr>
          <p:cNvPr id="8" name="card-76"/>
          <p:cNvSpPr/>
          <p:nvPr/>
        </p:nvSpPr>
        <p:spPr>
          <a:xfrm>
            <a:off x="4663440" y="1645920"/>
            <a:ext cx="4023360" cy="1325880"/>
          </a:xfrm>
          <a:prstGeom prst="roundRect">
            <a:avLst>
              <a:gd name="adj" fmla="val 5517"/>
            </a:avLst>
          </a:prstGeom>
          <a:solidFill>
            <a:schemeClr val="bg2"/>
          </a:solidFill>
          <a:ln/>
        </p:spPr>
      </p:sp>
      <p:sp>
        <p:nvSpPr>
          <p:cNvPr id="9" name="text-77"/>
          <p:cNvSpPr txBox="1"/>
          <p:nvPr/>
        </p:nvSpPr>
        <p:spPr>
          <a:xfrm>
            <a:off x="4892040" y="1783080"/>
            <a:ext cx="3566160" cy="274320"/>
          </a:xfrm>
          <a:prstGeom prst="rect">
            <a:avLst/>
          </a:prstGeom>
          <a:noFill/>
          <a:ln/>
        </p:spPr>
        <p:txBody>
          <a:bodyPr wrap="square" lIns="0" tIns="0" rIns="0" bIns="0" rtlCol="0" anchor="ctr"/>
          <a:lstStyle/>
          <a:p>
            <a:pPr indent="0" marL="0">
              <a:buNone/>
            </a:pPr>
            <a:r>
              <a:rPr lang="en-US" sz="1300" strike="sngStrike" dirty="0">
                <a:solidFill>
                  <a:schemeClr val="accent5"/>
                </a:solidFill>
              </a:rPr>
              <a:t>MediatR</a:t>
            </a:r>
            <a:endParaRPr lang="en-US" sz="1300" dirty="0"/>
          </a:p>
        </p:txBody>
      </p:sp>
      <p:sp>
        <p:nvSpPr>
          <p:cNvPr id="10" name="text-78"/>
          <p:cNvSpPr txBox="1"/>
          <p:nvPr/>
        </p:nvSpPr>
        <p:spPr>
          <a:xfrm>
            <a:off x="4892040" y="2057400"/>
            <a:ext cx="3566160" cy="320040"/>
          </a:xfrm>
          <a:prstGeom prst="rect">
            <a:avLst/>
          </a:prstGeom>
          <a:noFill/>
          <a:ln/>
        </p:spPr>
        <p:txBody>
          <a:bodyPr wrap="square" lIns="0" tIns="0" rIns="0" bIns="0" rtlCol="0" anchor="ctr"/>
          <a:lstStyle/>
          <a:p>
            <a:pPr indent="0" marL="0">
              <a:buNone/>
            </a:pPr>
            <a:r>
              <a:rPr lang="en-US" sz="1500" b="1" dirty="0">
                <a:solidFill>
                  <a:schemeClr val="accent1"/>
                </a:solidFill>
              </a:rPr>
              <a:t>→  FastEndpoints command bus</a:t>
            </a:r>
            <a:endParaRPr lang="en-US" sz="1500" dirty="0"/>
          </a:p>
        </p:txBody>
      </p:sp>
      <p:sp>
        <p:nvSpPr>
          <p:cNvPr id="11" name="text-79"/>
          <p:cNvSpPr txBox="1"/>
          <p:nvPr/>
        </p:nvSpPr>
        <p:spPr>
          <a:xfrm>
            <a:off x="4892040" y="2450592"/>
            <a:ext cx="3566160" cy="457200"/>
          </a:xfrm>
          <a:prstGeom prst="rect">
            <a:avLst/>
          </a:prstGeom>
          <a:noFill/>
          <a:ln/>
        </p:spPr>
        <p:txBody>
          <a:bodyPr wrap="square" lIns="0" tIns="0" rIns="0" bIns="0" rtlCol="0" anchor="t"/>
          <a:lstStyle/>
          <a:p>
            <a:pPr indent="0" marL="0">
              <a:buNone/>
            </a:pPr>
            <a:r>
              <a:rPr lang="en-US" sz="1200" dirty="0">
                <a:solidFill>
                  <a:schemeClr val="tx1"/>
                </a:solidFill>
              </a:rPr>
              <a:t>MediatR is now paid or reciprocal; the bus is MIT and already in the stack</a:t>
            </a:r>
            <a:endParaRPr lang="en-US" sz="1200" dirty="0"/>
          </a:p>
        </p:txBody>
      </p:sp>
      <p:sp>
        <p:nvSpPr>
          <p:cNvPr id="12" name="card-80"/>
          <p:cNvSpPr/>
          <p:nvPr/>
        </p:nvSpPr>
        <p:spPr>
          <a:xfrm>
            <a:off x="457200" y="3154680"/>
            <a:ext cx="4023360" cy="1325880"/>
          </a:xfrm>
          <a:prstGeom prst="roundRect">
            <a:avLst>
              <a:gd name="adj" fmla="val 5517"/>
            </a:avLst>
          </a:prstGeom>
          <a:solidFill>
            <a:schemeClr val="bg2"/>
          </a:solidFill>
          <a:ln/>
        </p:spPr>
      </p:sp>
      <p:sp>
        <p:nvSpPr>
          <p:cNvPr id="13" name="text-81"/>
          <p:cNvSpPr txBox="1"/>
          <p:nvPr/>
        </p:nvSpPr>
        <p:spPr>
          <a:xfrm>
            <a:off x="685800" y="3291840"/>
            <a:ext cx="3566160" cy="274320"/>
          </a:xfrm>
          <a:prstGeom prst="rect">
            <a:avLst/>
          </a:prstGeom>
          <a:noFill/>
          <a:ln/>
        </p:spPr>
        <p:txBody>
          <a:bodyPr wrap="square" lIns="0" tIns="0" rIns="0" bIns="0" rtlCol="0" anchor="ctr"/>
          <a:lstStyle/>
          <a:p>
            <a:pPr indent="0" marL="0">
              <a:buNone/>
            </a:pPr>
            <a:r>
              <a:rPr lang="en-US" sz="1300" strike="sngStrike" dirty="0">
                <a:solidFill>
                  <a:schemeClr val="accent5"/>
                </a:solidFill>
              </a:rPr>
              <a:t>FluentAssertions</a:t>
            </a:r>
            <a:endParaRPr lang="en-US" sz="1300" dirty="0"/>
          </a:p>
        </p:txBody>
      </p:sp>
      <p:sp>
        <p:nvSpPr>
          <p:cNvPr id="14" name="text-82"/>
          <p:cNvSpPr txBox="1"/>
          <p:nvPr/>
        </p:nvSpPr>
        <p:spPr>
          <a:xfrm>
            <a:off x="685800" y="3566160"/>
            <a:ext cx="3566160" cy="320040"/>
          </a:xfrm>
          <a:prstGeom prst="rect">
            <a:avLst/>
          </a:prstGeom>
          <a:noFill/>
          <a:ln/>
        </p:spPr>
        <p:txBody>
          <a:bodyPr wrap="square" lIns="0" tIns="0" rIns="0" bIns="0" rtlCol="0" anchor="ctr"/>
          <a:lstStyle/>
          <a:p>
            <a:pPr indent="0" marL="0">
              <a:buNone/>
            </a:pPr>
            <a:r>
              <a:rPr lang="en-US" sz="1500" b="1" dirty="0">
                <a:solidFill>
                  <a:schemeClr val="accent1"/>
                </a:solidFill>
              </a:rPr>
              <a:t>→  Shouldly</a:t>
            </a:r>
            <a:endParaRPr lang="en-US" sz="1500" dirty="0"/>
          </a:p>
        </p:txBody>
      </p:sp>
      <p:sp>
        <p:nvSpPr>
          <p:cNvPr id="15" name="text-83"/>
          <p:cNvSpPr txBox="1"/>
          <p:nvPr/>
        </p:nvSpPr>
        <p:spPr>
          <a:xfrm>
            <a:off x="685800" y="3959352"/>
            <a:ext cx="3566160" cy="457200"/>
          </a:xfrm>
          <a:prstGeom prst="rect">
            <a:avLst/>
          </a:prstGeom>
          <a:noFill/>
          <a:ln/>
        </p:spPr>
        <p:txBody>
          <a:bodyPr wrap="square" lIns="0" tIns="0" rIns="0" bIns="0" rtlCol="0" anchor="t"/>
          <a:lstStyle/>
          <a:p>
            <a:pPr indent="0" marL="0">
              <a:buNone/>
            </a:pPr>
            <a:r>
              <a:rPr lang="en-US" sz="1200" dirty="0">
                <a:solidFill>
                  <a:schemeClr val="tx1"/>
                </a:solidFill>
              </a:rPr>
              <a:t>FluentAssertions v8 uses a non-commercial licence</a:t>
            </a:r>
            <a:endParaRPr lang="en-US" sz="1200" dirty="0"/>
          </a:p>
        </p:txBody>
      </p:sp>
      <p:sp>
        <p:nvSpPr>
          <p:cNvPr id="16" name="card-84"/>
          <p:cNvSpPr/>
          <p:nvPr/>
        </p:nvSpPr>
        <p:spPr>
          <a:xfrm>
            <a:off x="4663440" y="3154680"/>
            <a:ext cx="4023360" cy="1325880"/>
          </a:xfrm>
          <a:prstGeom prst="roundRect">
            <a:avLst>
              <a:gd name="adj" fmla="val 5517"/>
            </a:avLst>
          </a:prstGeom>
          <a:solidFill>
            <a:schemeClr val="bg2"/>
          </a:solidFill>
          <a:ln/>
        </p:spPr>
      </p:sp>
      <p:sp>
        <p:nvSpPr>
          <p:cNvPr id="17" name="text-85"/>
          <p:cNvSpPr txBox="1"/>
          <p:nvPr/>
        </p:nvSpPr>
        <p:spPr>
          <a:xfrm>
            <a:off x="4892040" y="3291840"/>
            <a:ext cx="3566160" cy="274320"/>
          </a:xfrm>
          <a:prstGeom prst="rect">
            <a:avLst/>
          </a:prstGeom>
          <a:noFill/>
          <a:ln/>
        </p:spPr>
        <p:txBody>
          <a:bodyPr wrap="square" lIns="0" tIns="0" rIns="0" bIns="0" rtlCol="0" anchor="ctr"/>
          <a:lstStyle/>
          <a:p>
            <a:pPr indent="0" marL="0">
              <a:buNone/>
            </a:pPr>
            <a:r>
              <a:rPr lang="en-US" sz="1300" strike="sngStrike" dirty="0">
                <a:solidFill>
                  <a:schemeClr val="accent5"/>
                </a:solidFill>
              </a:rPr>
              <a:t>FastEndpoints.Swagger</a:t>
            </a:r>
            <a:endParaRPr lang="en-US" sz="1300" dirty="0"/>
          </a:p>
        </p:txBody>
      </p:sp>
      <p:sp>
        <p:nvSpPr>
          <p:cNvPr id="18" name="text-86"/>
          <p:cNvSpPr txBox="1"/>
          <p:nvPr/>
        </p:nvSpPr>
        <p:spPr>
          <a:xfrm>
            <a:off x="4892040" y="3566160"/>
            <a:ext cx="3566160" cy="320040"/>
          </a:xfrm>
          <a:prstGeom prst="rect">
            <a:avLst/>
          </a:prstGeom>
          <a:noFill/>
          <a:ln/>
        </p:spPr>
        <p:txBody>
          <a:bodyPr wrap="square" lIns="0" tIns="0" rIns="0" bIns="0" rtlCol="0" anchor="ctr"/>
          <a:lstStyle/>
          <a:p>
            <a:pPr indent="0" marL="0">
              <a:buNone/>
            </a:pPr>
            <a:r>
              <a:rPr lang="en-US" sz="1500" b="1" dirty="0">
                <a:solidFill>
                  <a:schemeClr val="accent1"/>
                </a:solidFill>
              </a:rPr>
              <a:t>→  FastEndpoints.OpenApi + Scalar</a:t>
            </a:r>
            <a:endParaRPr lang="en-US" sz="1500" dirty="0"/>
          </a:p>
        </p:txBody>
      </p:sp>
      <p:sp>
        <p:nvSpPr>
          <p:cNvPr id="19" name="text-87"/>
          <p:cNvSpPr txBox="1"/>
          <p:nvPr/>
        </p:nvSpPr>
        <p:spPr>
          <a:xfrm>
            <a:off x="4892040" y="3959352"/>
            <a:ext cx="3566160" cy="457200"/>
          </a:xfrm>
          <a:prstGeom prst="rect">
            <a:avLst/>
          </a:prstGeom>
          <a:noFill/>
          <a:ln/>
        </p:spPr>
        <p:txBody>
          <a:bodyPr wrap="square" lIns="0" tIns="0" rIns="0" bIns="0" rtlCol="0" anchor="t"/>
          <a:lstStyle/>
          <a:p>
            <a:pPr indent="0" marL="0">
              <a:buNone/>
            </a:pPr>
            <a:r>
              <a:rPr lang="en-US" sz="1200" dirty="0">
                <a:solidFill>
                  <a:schemeClr val="tx1"/>
                </a:solidFill>
              </a:rPr>
              <a:t>Swagger package is deprecated after 10 Nov 2026</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/product-brainstorm ran the plan phase by phase</a:t>
            </a:r>
            <a:endParaRPr lang="en-US" sz="3000" dirty="0"/>
          </a:p>
        </p:txBody>
      </p:sp>
      <p:sp>
        <p:nvSpPr>
          <p:cNvPr id="3" name="card-88"/>
          <p:cNvSpPr/>
          <p:nvPr/>
        </p:nvSpPr>
        <p:spPr>
          <a:xfrm>
            <a:off x="457200" y="1188720"/>
            <a:ext cx="1261872" cy="960120"/>
          </a:xfrm>
          <a:prstGeom prst="roundRect">
            <a:avLst>
              <a:gd name="adj" fmla="val 7619"/>
            </a:avLst>
          </a:prstGeom>
          <a:solidFill>
            <a:schemeClr val="bg2"/>
          </a:solidFill>
          <a:ln/>
        </p:spPr>
      </p:sp>
      <p:sp>
        <p:nvSpPr>
          <p:cNvPr id="4" name="text-89"/>
          <p:cNvSpPr txBox="1"/>
          <p:nvPr/>
        </p:nvSpPr>
        <p:spPr>
          <a:xfrm>
            <a:off x="594360" y="129844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1</a:t>
            </a:r>
            <a:endParaRPr lang="en-US" sz="1200" dirty="0"/>
          </a:p>
        </p:txBody>
      </p:sp>
      <p:sp>
        <p:nvSpPr>
          <p:cNvPr id="5" name="text-90"/>
          <p:cNvSpPr txBox="1"/>
          <p:nvPr/>
        </p:nvSpPr>
        <p:spPr>
          <a:xfrm>
            <a:off x="594360" y="1536192"/>
            <a:ext cx="1051560" cy="274320"/>
          </a:xfrm>
          <a:prstGeom prst="rect">
            <a:avLst/>
          </a:prstGeom>
          <a:noFill/>
          <a:ln/>
        </p:spPr>
        <p:txBody>
          <a:bodyPr wrap="square" lIns="0" tIns="0" rIns="0" bIns="0" rtlCol="0" anchor="t"/>
          <a:lstStyle/>
          <a:p>
            <a:pPr indent="0" marL="0">
              <a:buNone/>
            </a:pPr>
            <a:r>
              <a:rPr lang="en-US" sz="1300" b="1" dirty="0">
                <a:solidFill>
                  <a:schemeClr val="tx2"/>
                </a:solidFill>
              </a:rPr>
              <a:t>Concept</a:t>
            </a:r>
            <a:endParaRPr lang="en-US" sz="1300" dirty="0"/>
          </a:p>
        </p:txBody>
      </p:sp>
      <p:sp>
        <p:nvSpPr>
          <p:cNvPr id="6" name="badge-91"/>
          <p:cNvSpPr/>
          <p:nvPr/>
        </p:nvSpPr>
        <p:spPr>
          <a:xfrm>
            <a:off x="594360" y="1847088"/>
            <a:ext cx="731520" cy="201168"/>
          </a:xfrm>
          <a:prstGeom prst="roundRect">
            <a:avLst>
              <a:gd name="adj" fmla="val 50000"/>
            </a:avLst>
          </a:prstGeom>
          <a:solidFill>
            <a:schemeClr val="accent3"/>
          </a:solidFill>
          <a:ln/>
        </p:spPr>
      </p:sp>
      <p:sp>
        <p:nvSpPr>
          <p:cNvPr id="7" name="text-92"/>
          <p:cNvSpPr txBox="1"/>
          <p:nvPr/>
        </p:nvSpPr>
        <p:spPr>
          <a:xfrm>
            <a:off x="594360" y="184708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8" name="card-93"/>
          <p:cNvSpPr/>
          <p:nvPr/>
        </p:nvSpPr>
        <p:spPr>
          <a:xfrm>
            <a:off x="1828800" y="1188720"/>
            <a:ext cx="1261872" cy="960120"/>
          </a:xfrm>
          <a:prstGeom prst="roundRect">
            <a:avLst>
              <a:gd name="adj" fmla="val 7619"/>
            </a:avLst>
          </a:prstGeom>
          <a:solidFill>
            <a:schemeClr val="bg2"/>
          </a:solidFill>
          <a:ln/>
        </p:spPr>
      </p:sp>
      <p:sp>
        <p:nvSpPr>
          <p:cNvPr id="9" name="text-94"/>
          <p:cNvSpPr txBox="1"/>
          <p:nvPr/>
        </p:nvSpPr>
        <p:spPr>
          <a:xfrm>
            <a:off x="1965960" y="129844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2</a:t>
            </a:r>
            <a:endParaRPr lang="en-US" sz="1200" dirty="0"/>
          </a:p>
        </p:txBody>
      </p:sp>
      <p:sp>
        <p:nvSpPr>
          <p:cNvPr id="10" name="text-95"/>
          <p:cNvSpPr txBox="1"/>
          <p:nvPr/>
        </p:nvSpPr>
        <p:spPr>
          <a:xfrm>
            <a:off x="1965960" y="1536192"/>
            <a:ext cx="1051560" cy="274320"/>
          </a:xfrm>
          <a:prstGeom prst="rect">
            <a:avLst/>
          </a:prstGeom>
          <a:noFill/>
          <a:ln/>
        </p:spPr>
        <p:txBody>
          <a:bodyPr wrap="square" lIns="0" tIns="0" rIns="0" bIns="0" rtlCol="0" anchor="t"/>
          <a:lstStyle/>
          <a:p>
            <a:pPr indent="0" marL="0">
              <a:buNone/>
            </a:pPr>
            <a:r>
              <a:rPr lang="en-US" sz="1300" b="1" dirty="0">
                <a:solidFill>
                  <a:schemeClr val="tx2"/>
                </a:solidFill>
              </a:rPr>
              <a:t>Requirements</a:t>
            </a:r>
            <a:endParaRPr lang="en-US" sz="1300" dirty="0"/>
          </a:p>
        </p:txBody>
      </p:sp>
      <p:sp>
        <p:nvSpPr>
          <p:cNvPr id="11" name="badge-96"/>
          <p:cNvSpPr/>
          <p:nvPr/>
        </p:nvSpPr>
        <p:spPr>
          <a:xfrm>
            <a:off x="1965960" y="1847088"/>
            <a:ext cx="731520" cy="201168"/>
          </a:xfrm>
          <a:prstGeom prst="roundRect">
            <a:avLst>
              <a:gd name="adj" fmla="val 50000"/>
            </a:avLst>
          </a:prstGeom>
          <a:solidFill>
            <a:schemeClr val="accent3"/>
          </a:solidFill>
          <a:ln/>
        </p:spPr>
      </p:sp>
      <p:sp>
        <p:nvSpPr>
          <p:cNvPr id="12" name="text-97"/>
          <p:cNvSpPr txBox="1"/>
          <p:nvPr/>
        </p:nvSpPr>
        <p:spPr>
          <a:xfrm>
            <a:off x="1965960" y="184708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13" name="card-98"/>
          <p:cNvSpPr/>
          <p:nvPr/>
        </p:nvSpPr>
        <p:spPr>
          <a:xfrm>
            <a:off x="3200400" y="1188720"/>
            <a:ext cx="1261872" cy="960120"/>
          </a:xfrm>
          <a:prstGeom prst="roundRect">
            <a:avLst>
              <a:gd name="adj" fmla="val 7619"/>
            </a:avLst>
          </a:prstGeom>
          <a:solidFill>
            <a:schemeClr val="bg2"/>
          </a:solidFill>
          <a:ln/>
        </p:spPr>
      </p:sp>
      <p:sp>
        <p:nvSpPr>
          <p:cNvPr id="14" name="text-99"/>
          <p:cNvSpPr txBox="1"/>
          <p:nvPr/>
        </p:nvSpPr>
        <p:spPr>
          <a:xfrm>
            <a:off x="3337560" y="129844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3</a:t>
            </a:r>
            <a:endParaRPr lang="en-US" sz="1200" dirty="0"/>
          </a:p>
        </p:txBody>
      </p:sp>
      <p:sp>
        <p:nvSpPr>
          <p:cNvPr id="15" name="text-100"/>
          <p:cNvSpPr txBox="1"/>
          <p:nvPr/>
        </p:nvSpPr>
        <p:spPr>
          <a:xfrm>
            <a:off x="3337560" y="1536192"/>
            <a:ext cx="1051560" cy="274320"/>
          </a:xfrm>
          <a:prstGeom prst="rect">
            <a:avLst/>
          </a:prstGeom>
          <a:noFill/>
          <a:ln/>
        </p:spPr>
        <p:txBody>
          <a:bodyPr wrap="square" lIns="0" tIns="0" rIns="0" bIns="0" rtlCol="0" anchor="t"/>
          <a:lstStyle/>
          <a:p>
            <a:pPr indent="0" marL="0">
              <a:buNone/>
            </a:pPr>
            <a:r>
              <a:rPr lang="en-US" sz="1300" b="1" dirty="0">
                <a:solidFill>
                  <a:schemeClr val="tx2"/>
                </a:solidFill>
              </a:rPr>
              <a:t>Research</a:t>
            </a:r>
            <a:endParaRPr lang="en-US" sz="1300" dirty="0"/>
          </a:p>
        </p:txBody>
      </p:sp>
      <p:sp>
        <p:nvSpPr>
          <p:cNvPr id="16" name="badge-101"/>
          <p:cNvSpPr/>
          <p:nvPr/>
        </p:nvSpPr>
        <p:spPr>
          <a:xfrm>
            <a:off x="3337560" y="1847088"/>
            <a:ext cx="731520" cy="201168"/>
          </a:xfrm>
          <a:prstGeom prst="roundRect">
            <a:avLst>
              <a:gd name="adj" fmla="val 50000"/>
            </a:avLst>
          </a:prstGeom>
          <a:solidFill>
            <a:schemeClr val="accent5"/>
          </a:solidFill>
          <a:ln/>
        </p:spPr>
      </p:sp>
      <p:sp>
        <p:nvSpPr>
          <p:cNvPr id="17" name="text-102"/>
          <p:cNvSpPr txBox="1"/>
          <p:nvPr/>
        </p:nvSpPr>
        <p:spPr>
          <a:xfrm>
            <a:off x="3337560" y="184708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Skipped</a:t>
            </a:r>
            <a:endParaRPr lang="en-US" sz="1000" dirty="0"/>
          </a:p>
        </p:txBody>
      </p:sp>
      <p:sp>
        <p:nvSpPr>
          <p:cNvPr id="18" name="card-103"/>
          <p:cNvSpPr/>
          <p:nvPr/>
        </p:nvSpPr>
        <p:spPr>
          <a:xfrm>
            <a:off x="4572000" y="1188720"/>
            <a:ext cx="1261872" cy="960120"/>
          </a:xfrm>
          <a:prstGeom prst="roundRect">
            <a:avLst>
              <a:gd name="adj" fmla="val 7619"/>
            </a:avLst>
          </a:prstGeom>
          <a:solidFill>
            <a:schemeClr val="bg2"/>
          </a:solidFill>
          <a:ln/>
        </p:spPr>
      </p:sp>
      <p:sp>
        <p:nvSpPr>
          <p:cNvPr id="19" name="text-104"/>
          <p:cNvSpPr txBox="1"/>
          <p:nvPr/>
        </p:nvSpPr>
        <p:spPr>
          <a:xfrm>
            <a:off x="4709160" y="129844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4</a:t>
            </a:r>
            <a:endParaRPr lang="en-US" sz="1200" dirty="0"/>
          </a:p>
        </p:txBody>
      </p:sp>
      <p:sp>
        <p:nvSpPr>
          <p:cNvPr id="20" name="text-105"/>
          <p:cNvSpPr txBox="1"/>
          <p:nvPr/>
        </p:nvSpPr>
        <p:spPr>
          <a:xfrm>
            <a:off x="4709160" y="1536192"/>
            <a:ext cx="1051560" cy="274320"/>
          </a:xfrm>
          <a:prstGeom prst="rect">
            <a:avLst/>
          </a:prstGeom>
          <a:noFill/>
          <a:ln/>
        </p:spPr>
        <p:txBody>
          <a:bodyPr wrap="square" lIns="0" tIns="0" rIns="0" bIns="0" rtlCol="0" anchor="t"/>
          <a:lstStyle/>
          <a:p>
            <a:pPr indent="0" marL="0">
              <a:buNone/>
            </a:pPr>
            <a:r>
              <a:rPr lang="en-US" sz="1300" b="1" dirty="0">
                <a:solidFill>
                  <a:schemeClr val="tx2"/>
                </a:solidFill>
              </a:rPr>
              <a:t>UX design</a:t>
            </a:r>
            <a:endParaRPr lang="en-US" sz="1300" dirty="0"/>
          </a:p>
        </p:txBody>
      </p:sp>
      <p:sp>
        <p:nvSpPr>
          <p:cNvPr id="21" name="badge-106"/>
          <p:cNvSpPr/>
          <p:nvPr/>
        </p:nvSpPr>
        <p:spPr>
          <a:xfrm>
            <a:off x="4709160" y="1847088"/>
            <a:ext cx="731520" cy="201168"/>
          </a:xfrm>
          <a:prstGeom prst="roundRect">
            <a:avLst>
              <a:gd name="adj" fmla="val 50000"/>
            </a:avLst>
          </a:prstGeom>
          <a:solidFill>
            <a:schemeClr val="accent5"/>
          </a:solidFill>
          <a:ln/>
        </p:spPr>
      </p:sp>
      <p:sp>
        <p:nvSpPr>
          <p:cNvPr id="22" name="text-107"/>
          <p:cNvSpPr txBox="1"/>
          <p:nvPr/>
        </p:nvSpPr>
        <p:spPr>
          <a:xfrm>
            <a:off x="4709160" y="184708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Skipped</a:t>
            </a:r>
            <a:endParaRPr lang="en-US" sz="1000" dirty="0"/>
          </a:p>
        </p:txBody>
      </p:sp>
      <p:sp>
        <p:nvSpPr>
          <p:cNvPr id="23" name="card-108"/>
          <p:cNvSpPr/>
          <p:nvPr/>
        </p:nvSpPr>
        <p:spPr>
          <a:xfrm>
            <a:off x="457200" y="2286000"/>
            <a:ext cx="1261872" cy="960120"/>
          </a:xfrm>
          <a:prstGeom prst="roundRect">
            <a:avLst>
              <a:gd name="adj" fmla="val 7619"/>
            </a:avLst>
          </a:prstGeom>
          <a:solidFill>
            <a:schemeClr val="bg2"/>
          </a:solidFill>
          <a:ln/>
        </p:spPr>
      </p:sp>
      <p:sp>
        <p:nvSpPr>
          <p:cNvPr id="24" name="text-109"/>
          <p:cNvSpPr txBox="1"/>
          <p:nvPr/>
        </p:nvSpPr>
        <p:spPr>
          <a:xfrm>
            <a:off x="594360" y="239572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5</a:t>
            </a:r>
            <a:endParaRPr lang="en-US" sz="1200" dirty="0"/>
          </a:p>
        </p:txBody>
      </p:sp>
      <p:sp>
        <p:nvSpPr>
          <p:cNvPr id="25" name="text-110"/>
          <p:cNvSpPr txBox="1"/>
          <p:nvPr/>
        </p:nvSpPr>
        <p:spPr>
          <a:xfrm>
            <a:off x="594360" y="2633472"/>
            <a:ext cx="1051560" cy="274320"/>
          </a:xfrm>
          <a:prstGeom prst="rect">
            <a:avLst/>
          </a:prstGeom>
          <a:noFill/>
          <a:ln/>
        </p:spPr>
        <p:txBody>
          <a:bodyPr wrap="square" lIns="0" tIns="0" rIns="0" bIns="0" rtlCol="0" anchor="t"/>
          <a:lstStyle/>
          <a:p>
            <a:pPr indent="0" marL="0">
              <a:buNone/>
            </a:pPr>
            <a:r>
              <a:rPr lang="en-US" sz="1300" b="1" dirty="0">
                <a:solidFill>
                  <a:schemeClr val="tx2"/>
                </a:solidFill>
              </a:rPr>
              <a:t>UI design</a:t>
            </a:r>
            <a:endParaRPr lang="en-US" sz="1300" dirty="0"/>
          </a:p>
        </p:txBody>
      </p:sp>
      <p:sp>
        <p:nvSpPr>
          <p:cNvPr id="26" name="badge-111"/>
          <p:cNvSpPr/>
          <p:nvPr/>
        </p:nvSpPr>
        <p:spPr>
          <a:xfrm>
            <a:off x="594360" y="2944368"/>
            <a:ext cx="731520" cy="201168"/>
          </a:xfrm>
          <a:prstGeom prst="roundRect">
            <a:avLst>
              <a:gd name="adj" fmla="val 50000"/>
            </a:avLst>
          </a:prstGeom>
          <a:solidFill>
            <a:schemeClr val="accent5"/>
          </a:solidFill>
          <a:ln/>
        </p:spPr>
      </p:sp>
      <p:sp>
        <p:nvSpPr>
          <p:cNvPr id="27" name="text-112"/>
          <p:cNvSpPr txBox="1"/>
          <p:nvPr/>
        </p:nvSpPr>
        <p:spPr>
          <a:xfrm>
            <a:off x="594360" y="294436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Skipped</a:t>
            </a:r>
            <a:endParaRPr lang="en-US" sz="1000" dirty="0"/>
          </a:p>
        </p:txBody>
      </p:sp>
      <p:sp>
        <p:nvSpPr>
          <p:cNvPr id="28" name="card-113"/>
          <p:cNvSpPr/>
          <p:nvPr/>
        </p:nvSpPr>
        <p:spPr>
          <a:xfrm>
            <a:off x="1828800" y="2286000"/>
            <a:ext cx="1261872" cy="960120"/>
          </a:xfrm>
          <a:prstGeom prst="roundRect">
            <a:avLst>
              <a:gd name="adj" fmla="val 7619"/>
            </a:avLst>
          </a:prstGeom>
          <a:solidFill>
            <a:schemeClr val="bg2"/>
          </a:solidFill>
          <a:ln/>
        </p:spPr>
      </p:sp>
      <p:sp>
        <p:nvSpPr>
          <p:cNvPr id="29" name="text-114"/>
          <p:cNvSpPr txBox="1"/>
          <p:nvPr/>
        </p:nvSpPr>
        <p:spPr>
          <a:xfrm>
            <a:off x="1965960" y="239572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6</a:t>
            </a:r>
            <a:endParaRPr lang="en-US" sz="1200" dirty="0"/>
          </a:p>
        </p:txBody>
      </p:sp>
      <p:sp>
        <p:nvSpPr>
          <p:cNvPr id="30" name="text-115"/>
          <p:cNvSpPr txBox="1"/>
          <p:nvPr/>
        </p:nvSpPr>
        <p:spPr>
          <a:xfrm>
            <a:off x="1965960" y="2633472"/>
            <a:ext cx="1051560" cy="274320"/>
          </a:xfrm>
          <a:prstGeom prst="rect">
            <a:avLst/>
          </a:prstGeom>
          <a:noFill/>
          <a:ln/>
        </p:spPr>
        <p:txBody>
          <a:bodyPr wrap="square" lIns="0" tIns="0" rIns="0" bIns="0" rtlCol="0" anchor="t"/>
          <a:lstStyle/>
          <a:p>
            <a:pPr indent="0" marL="0">
              <a:buNone/>
            </a:pPr>
            <a:r>
              <a:rPr lang="en-US" sz="1300" b="1" dirty="0">
                <a:solidFill>
                  <a:schemeClr val="tx2"/>
                </a:solidFill>
              </a:rPr>
              <a:t>Architecture</a:t>
            </a:r>
            <a:endParaRPr lang="en-US" sz="1300" dirty="0"/>
          </a:p>
        </p:txBody>
      </p:sp>
      <p:sp>
        <p:nvSpPr>
          <p:cNvPr id="31" name="badge-116"/>
          <p:cNvSpPr/>
          <p:nvPr/>
        </p:nvSpPr>
        <p:spPr>
          <a:xfrm>
            <a:off x="1965960" y="2944368"/>
            <a:ext cx="731520" cy="201168"/>
          </a:xfrm>
          <a:prstGeom prst="roundRect">
            <a:avLst>
              <a:gd name="adj" fmla="val 50000"/>
            </a:avLst>
          </a:prstGeom>
          <a:solidFill>
            <a:schemeClr val="accent3"/>
          </a:solidFill>
          <a:ln/>
        </p:spPr>
      </p:sp>
      <p:sp>
        <p:nvSpPr>
          <p:cNvPr id="32" name="text-117"/>
          <p:cNvSpPr txBox="1"/>
          <p:nvPr/>
        </p:nvSpPr>
        <p:spPr>
          <a:xfrm>
            <a:off x="1965960" y="294436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33" name="card-118"/>
          <p:cNvSpPr/>
          <p:nvPr/>
        </p:nvSpPr>
        <p:spPr>
          <a:xfrm>
            <a:off x="3200400" y="2286000"/>
            <a:ext cx="1261872" cy="960120"/>
          </a:xfrm>
          <a:prstGeom prst="roundRect">
            <a:avLst>
              <a:gd name="adj" fmla="val 7619"/>
            </a:avLst>
          </a:prstGeom>
          <a:solidFill>
            <a:schemeClr val="bg2"/>
          </a:solidFill>
          <a:ln/>
        </p:spPr>
      </p:sp>
      <p:sp>
        <p:nvSpPr>
          <p:cNvPr id="34" name="text-119"/>
          <p:cNvSpPr txBox="1"/>
          <p:nvPr/>
        </p:nvSpPr>
        <p:spPr>
          <a:xfrm>
            <a:off x="3337560" y="239572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7</a:t>
            </a:r>
            <a:endParaRPr lang="en-US" sz="1200" dirty="0"/>
          </a:p>
        </p:txBody>
      </p:sp>
      <p:sp>
        <p:nvSpPr>
          <p:cNvPr id="35" name="text-120"/>
          <p:cNvSpPr txBox="1"/>
          <p:nvPr/>
        </p:nvSpPr>
        <p:spPr>
          <a:xfrm>
            <a:off x="3337560" y="2633472"/>
            <a:ext cx="1051560" cy="274320"/>
          </a:xfrm>
          <a:prstGeom prst="rect">
            <a:avLst/>
          </a:prstGeom>
          <a:noFill/>
          <a:ln/>
        </p:spPr>
        <p:txBody>
          <a:bodyPr wrap="square" lIns="0" tIns="0" rIns="0" bIns="0" rtlCol="0" anchor="t"/>
          <a:lstStyle/>
          <a:p>
            <a:pPr indent="0" marL="0">
              <a:buNone/>
            </a:pPr>
            <a:r>
              <a:rPr lang="en-US" sz="1300" b="1" dirty="0">
                <a:solidFill>
                  <a:schemeClr val="tx2"/>
                </a:solidFill>
              </a:rPr>
              <a:t>Security</a:t>
            </a:r>
            <a:endParaRPr lang="en-US" sz="1300" dirty="0"/>
          </a:p>
        </p:txBody>
      </p:sp>
      <p:sp>
        <p:nvSpPr>
          <p:cNvPr id="36" name="badge-121"/>
          <p:cNvSpPr/>
          <p:nvPr/>
        </p:nvSpPr>
        <p:spPr>
          <a:xfrm>
            <a:off x="3337560" y="2944368"/>
            <a:ext cx="731520" cy="201168"/>
          </a:xfrm>
          <a:prstGeom prst="roundRect">
            <a:avLst>
              <a:gd name="adj" fmla="val 50000"/>
            </a:avLst>
          </a:prstGeom>
          <a:solidFill>
            <a:schemeClr val="accent3"/>
          </a:solidFill>
          <a:ln/>
        </p:spPr>
      </p:sp>
      <p:sp>
        <p:nvSpPr>
          <p:cNvPr id="37" name="text-122"/>
          <p:cNvSpPr txBox="1"/>
          <p:nvPr/>
        </p:nvSpPr>
        <p:spPr>
          <a:xfrm>
            <a:off x="3337560" y="294436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38" name="card-123"/>
          <p:cNvSpPr/>
          <p:nvPr/>
        </p:nvSpPr>
        <p:spPr>
          <a:xfrm>
            <a:off x="4572000" y="2286000"/>
            <a:ext cx="1261872" cy="960120"/>
          </a:xfrm>
          <a:prstGeom prst="roundRect">
            <a:avLst>
              <a:gd name="adj" fmla="val 7619"/>
            </a:avLst>
          </a:prstGeom>
          <a:solidFill>
            <a:schemeClr val="bg2"/>
          </a:solidFill>
          <a:ln/>
        </p:spPr>
      </p:sp>
      <p:sp>
        <p:nvSpPr>
          <p:cNvPr id="39" name="text-124"/>
          <p:cNvSpPr txBox="1"/>
          <p:nvPr/>
        </p:nvSpPr>
        <p:spPr>
          <a:xfrm>
            <a:off x="4709160" y="239572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8</a:t>
            </a:r>
            <a:endParaRPr lang="en-US" sz="1200" dirty="0"/>
          </a:p>
        </p:txBody>
      </p:sp>
      <p:sp>
        <p:nvSpPr>
          <p:cNvPr id="40" name="text-125"/>
          <p:cNvSpPr txBox="1"/>
          <p:nvPr/>
        </p:nvSpPr>
        <p:spPr>
          <a:xfrm>
            <a:off x="4709160" y="2633472"/>
            <a:ext cx="1051560" cy="274320"/>
          </a:xfrm>
          <a:prstGeom prst="rect">
            <a:avLst/>
          </a:prstGeom>
          <a:noFill/>
          <a:ln/>
        </p:spPr>
        <p:txBody>
          <a:bodyPr wrap="square" lIns="0" tIns="0" rIns="0" bIns="0" rtlCol="0" anchor="t"/>
          <a:lstStyle/>
          <a:p>
            <a:pPr indent="0" marL="0">
              <a:buNone/>
            </a:pPr>
            <a:r>
              <a:rPr lang="en-US" sz="1300" b="1" dirty="0">
                <a:solidFill>
                  <a:schemeClr val="tx2"/>
                </a:solidFill>
              </a:rPr>
              <a:t>Delivery</a:t>
            </a:r>
            <a:endParaRPr lang="en-US" sz="1300" dirty="0"/>
          </a:p>
        </p:txBody>
      </p:sp>
      <p:sp>
        <p:nvSpPr>
          <p:cNvPr id="41" name="badge-126"/>
          <p:cNvSpPr/>
          <p:nvPr/>
        </p:nvSpPr>
        <p:spPr>
          <a:xfrm>
            <a:off x="4709160" y="2944368"/>
            <a:ext cx="731520" cy="201168"/>
          </a:xfrm>
          <a:prstGeom prst="roundRect">
            <a:avLst>
              <a:gd name="adj" fmla="val 50000"/>
            </a:avLst>
          </a:prstGeom>
          <a:solidFill>
            <a:schemeClr val="accent3"/>
          </a:solidFill>
          <a:ln/>
        </p:spPr>
      </p:sp>
      <p:sp>
        <p:nvSpPr>
          <p:cNvPr id="42" name="text-127"/>
          <p:cNvSpPr txBox="1"/>
          <p:nvPr/>
        </p:nvSpPr>
        <p:spPr>
          <a:xfrm>
            <a:off x="4709160" y="294436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43" name="card-128"/>
          <p:cNvSpPr/>
          <p:nvPr/>
        </p:nvSpPr>
        <p:spPr>
          <a:xfrm>
            <a:off x="457200" y="3383280"/>
            <a:ext cx="1261872" cy="960120"/>
          </a:xfrm>
          <a:prstGeom prst="roundRect">
            <a:avLst>
              <a:gd name="adj" fmla="val 7619"/>
            </a:avLst>
          </a:prstGeom>
          <a:solidFill>
            <a:schemeClr val="bg2"/>
          </a:solidFill>
          <a:ln/>
        </p:spPr>
      </p:sp>
      <p:sp>
        <p:nvSpPr>
          <p:cNvPr id="44" name="text-129"/>
          <p:cNvSpPr txBox="1"/>
          <p:nvPr/>
        </p:nvSpPr>
        <p:spPr>
          <a:xfrm>
            <a:off x="594360" y="349300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9</a:t>
            </a:r>
            <a:endParaRPr lang="en-US" sz="1200" dirty="0"/>
          </a:p>
        </p:txBody>
      </p:sp>
      <p:sp>
        <p:nvSpPr>
          <p:cNvPr id="45" name="text-130"/>
          <p:cNvSpPr txBox="1"/>
          <p:nvPr/>
        </p:nvSpPr>
        <p:spPr>
          <a:xfrm>
            <a:off x="594360" y="3730752"/>
            <a:ext cx="1051560" cy="274320"/>
          </a:xfrm>
          <a:prstGeom prst="rect">
            <a:avLst/>
          </a:prstGeom>
          <a:noFill/>
          <a:ln/>
        </p:spPr>
        <p:txBody>
          <a:bodyPr wrap="square" lIns="0" tIns="0" rIns="0" bIns="0" rtlCol="0" anchor="t"/>
          <a:lstStyle/>
          <a:p>
            <a:pPr indent="0" marL="0">
              <a:buNone/>
            </a:pPr>
            <a:r>
              <a:rPr lang="en-US" sz="1300" b="1" dirty="0">
                <a:solidFill>
                  <a:schemeClr val="tx2"/>
                </a:solidFill>
              </a:rPr>
              <a:t>Quality</a:t>
            </a:r>
            <a:endParaRPr lang="en-US" sz="1300" dirty="0"/>
          </a:p>
        </p:txBody>
      </p:sp>
      <p:sp>
        <p:nvSpPr>
          <p:cNvPr id="46" name="badge-131"/>
          <p:cNvSpPr/>
          <p:nvPr/>
        </p:nvSpPr>
        <p:spPr>
          <a:xfrm>
            <a:off x="594360" y="4041648"/>
            <a:ext cx="731520" cy="201168"/>
          </a:xfrm>
          <a:prstGeom prst="roundRect">
            <a:avLst>
              <a:gd name="adj" fmla="val 50000"/>
            </a:avLst>
          </a:prstGeom>
          <a:solidFill>
            <a:schemeClr val="accent3"/>
          </a:solidFill>
          <a:ln/>
        </p:spPr>
      </p:sp>
      <p:sp>
        <p:nvSpPr>
          <p:cNvPr id="47" name="text-132"/>
          <p:cNvSpPr txBox="1"/>
          <p:nvPr/>
        </p:nvSpPr>
        <p:spPr>
          <a:xfrm>
            <a:off x="594360" y="404164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48" name="card-133"/>
          <p:cNvSpPr/>
          <p:nvPr/>
        </p:nvSpPr>
        <p:spPr>
          <a:xfrm>
            <a:off x="1828800" y="3383280"/>
            <a:ext cx="1261872" cy="960120"/>
          </a:xfrm>
          <a:prstGeom prst="roundRect">
            <a:avLst>
              <a:gd name="adj" fmla="val 7619"/>
            </a:avLst>
          </a:prstGeom>
          <a:solidFill>
            <a:schemeClr val="bg2"/>
          </a:solidFill>
          <a:ln/>
        </p:spPr>
      </p:sp>
      <p:sp>
        <p:nvSpPr>
          <p:cNvPr id="49" name="text-134"/>
          <p:cNvSpPr txBox="1"/>
          <p:nvPr/>
        </p:nvSpPr>
        <p:spPr>
          <a:xfrm>
            <a:off x="1965960" y="349300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10</a:t>
            </a:r>
            <a:endParaRPr lang="en-US" sz="1200" dirty="0"/>
          </a:p>
        </p:txBody>
      </p:sp>
      <p:sp>
        <p:nvSpPr>
          <p:cNvPr id="50" name="text-135"/>
          <p:cNvSpPr txBox="1"/>
          <p:nvPr/>
        </p:nvSpPr>
        <p:spPr>
          <a:xfrm>
            <a:off x="1965960" y="3730752"/>
            <a:ext cx="1051560" cy="274320"/>
          </a:xfrm>
          <a:prstGeom prst="rect">
            <a:avLst/>
          </a:prstGeom>
          <a:noFill/>
          <a:ln/>
        </p:spPr>
        <p:txBody>
          <a:bodyPr wrap="square" lIns="0" tIns="0" rIns="0" bIns="0" rtlCol="0" anchor="t"/>
          <a:lstStyle/>
          <a:p>
            <a:pPr indent="0" marL="0">
              <a:buNone/>
            </a:pPr>
            <a:r>
              <a:rPr lang="en-US" sz="1300" b="1" dirty="0">
                <a:solidFill>
                  <a:schemeClr val="tx2"/>
                </a:solidFill>
              </a:rPr>
              <a:t>Release</a:t>
            </a:r>
            <a:endParaRPr lang="en-US" sz="1300" dirty="0"/>
          </a:p>
        </p:txBody>
      </p:sp>
      <p:sp>
        <p:nvSpPr>
          <p:cNvPr id="51" name="badge-136"/>
          <p:cNvSpPr/>
          <p:nvPr/>
        </p:nvSpPr>
        <p:spPr>
          <a:xfrm>
            <a:off x="1965960" y="4041648"/>
            <a:ext cx="731520" cy="201168"/>
          </a:xfrm>
          <a:prstGeom prst="roundRect">
            <a:avLst>
              <a:gd name="adj" fmla="val 50000"/>
            </a:avLst>
          </a:prstGeom>
          <a:solidFill>
            <a:schemeClr val="accent2"/>
          </a:solidFill>
          <a:ln/>
        </p:spPr>
      </p:sp>
      <p:sp>
        <p:nvSpPr>
          <p:cNvPr id="52" name="text-137"/>
          <p:cNvSpPr txBox="1"/>
          <p:nvPr/>
        </p:nvSpPr>
        <p:spPr>
          <a:xfrm>
            <a:off x="1965960" y="404164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Later</a:t>
            </a:r>
            <a:endParaRPr lang="en-US" sz="1000" dirty="0"/>
          </a:p>
        </p:txBody>
      </p:sp>
      <p:sp>
        <p:nvSpPr>
          <p:cNvPr id="53" name="card-138"/>
          <p:cNvSpPr/>
          <p:nvPr/>
        </p:nvSpPr>
        <p:spPr>
          <a:xfrm>
            <a:off x="3200400" y="3383280"/>
            <a:ext cx="1261872" cy="960120"/>
          </a:xfrm>
          <a:prstGeom prst="roundRect">
            <a:avLst>
              <a:gd name="adj" fmla="val 7619"/>
            </a:avLst>
          </a:prstGeom>
          <a:solidFill>
            <a:schemeClr val="bg2"/>
          </a:solidFill>
          <a:ln/>
        </p:spPr>
      </p:sp>
      <p:sp>
        <p:nvSpPr>
          <p:cNvPr id="54" name="text-139"/>
          <p:cNvSpPr txBox="1"/>
          <p:nvPr/>
        </p:nvSpPr>
        <p:spPr>
          <a:xfrm>
            <a:off x="3337560" y="3493008"/>
            <a:ext cx="1005840" cy="274320"/>
          </a:xfrm>
          <a:prstGeom prst="rect">
            <a:avLst/>
          </a:prstGeom>
          <a:noFill/>
          <a:ln/>
        </p:spPr>
        <p:txBody>
          <a:bodyPr wrap="square" lIns="0" tIns="0" rIns="0" bIns="0" rtlCol="0" anchor="t"/>
          <a:lstStyle/>
          <a:p>
            <a:pPr indent="0" marL="0">
              <a:buNone/>
            </a:pPr>
            <a:r>
              <a:rPr lang="en-US" sz="1200" b="1" dirty="0">
                <a:solidFill>
                  <a:schemeClr val="accent5"/>
                </a:solidFill>
              </a:rPr>
              <a:t>11</a:t>
            </a:r>
            <a:endParaRPr lang="en-US" sz="1200" dirty="0"/>
          </a:p>
        </p:txBody>
      </p:sp>
      <p:sp>
        <p:nvSpPr>
          <p:cNvPr id="55" name="text-140"/>
          <p:cNvSpPr txBox="1"/>
          <p:nvPr/>
        </p:nvSpPr>
        <p:spPr>
          <a:xfrm>
            <a:off x="3337560" y="3730752"/>
            <a:ext cx="1051560" cy="274320"/>
          </a:xfrm>
          <a:prstGeom prst="rect">
            <a:avLst/>
          </a:prstGeom>
          <a:noFill/>
          <a:ln/>
        </p:spPr>
        <p:txBody>
          <a:bodyPr wrap="square" lIns="0" tIns="0" rIns="0" bIns="0" rtlCol="0" anchor="t"/>
          <a:lstStyle/>
          <a:p>
            <a:pPr indent="0" marL="0">
              <a:buNone/>
            </a:pPr>
            <a:r>
              <a:rPr lang="en-US" sz="1300" b="1" dirty="0">
                <a:solidFill>
                  <a:schemeClr val="tx2"/>
                </a:solidFill>
              </a:rPr>
              <a:t>Operations</a:t>
            </a:r>
            <a:endParaRPr lang="en-US" sz="1300" dirty="0"/>
          </a:p>
        </p:txBody>
      </p:sp>
      <p:sp>
        <p:nvSpPr>
          <p:cNvPr id="56" name="badge-141"/>
          <p:cNvSpPr/>
          <p:nvPr/>
        </p:nvSpPr>
        <p:spPr>
          <a:xfrm>
            <a:off x="3337560" y="4041648"/>
            <a:ext cx="731520" cy="201168"/>
          </a:xfrm>
          <a:prstGeom prst="roundRect">
            <a:avLst>
              <a:gd name="adj" fmla="val 50000"/>
            </a:avLst>
          </a:prstGeom>
          <a:solidFill>
            <a:schemeClr val="accent2"/>
          </a:solidFill>
          <a:ln/>
        </p:spPr>
      </p:sp>
      <p:sp>
        <p:nvSpPr>
          <p:cNvPr id="57" name="text-142"/>
          <p:cNvSpPr txBox="1"/>
          <p:nvPr/>
        </p:nvSpPr>
        <p:spPr>
          <a:xfrm>
            <a:off x="3337560" y="4041648"/>
            <a:ext cx="731520" cy="201168"/>
          </a:xfrm>
          <a:prstGeom prst="rect">
            <a:avLst/>
          </a:prstGeom>
          <a:noFill/>
          <a:ln/>
        </p:spPr>
        <p:txBody>
          <a:bodyPr wrap="square" lIns="0" tIns="0" rIns="0" bIns="0" rtlCol="0" anchor="ctr"/>
          <a:lstStyle/>
          <a:p>
            <a:pPr algn="ctr" indent="0" marL="0">
              <a:buNone/>
            </a:pPr>
            <a:r>
              <a:rPr lang="en-US" sz="1000" b="1" dirty="0">
                <a:solidFill>
                  <a:schemeClr val="bg1"/>
                </a:solidFill>
              </a:rPr>
              <a:t>Later</a:t>
            </a:r>
            <a:endParaRPr lang="en-US" sz="1000" dirty="0"/>
          </a:p>
        </p:txBody>
      </p:sp>
      <p:sp>
        <p:nvSpPr>
          <p:cNvPr id="58" name="icon-circle-143"/>
          <p:cNvSpPr/>
          <p:nvPr/>
        </p:nvSpPr>
        <p:spPr>
          <a:xfrm>
            <a:off x="6126480" y="1234440"/>
            <a:ext cx="457200" cy="457200"/>
          </a:xfrm>
          <a:prstGeom prst="ellipse">
            <a:avLst/>
          </a:prstGeom>
          <a:solidFill>
            <a:schemeClr val="accent1"/>
          </a:solidFill>
          <a:ln/>
        </p:spPr>
      </p:sp>
      <p:pic>
        <p:nvPicPr>
          <p:cNvPr id="59" name="icon-144" descr="icon">    </p:cNvPr>
          <p:cNvPicPr>
            <a:picLocks noChangeAspect="1"/>
          </p:cNvPicPr>
          <p:nvPr/>
        </p:nvPicPr>
        <p:blipFill>
          <a:blip r:embed="rId1"/>
          <a:stretch>
            <a:fillRect/>
          </a:stretch>
        </p:blipFill>
        <p:spPr>
          <a:xfrm>
            <a:off x="6245352" y="1353312"/>
            <a:ext cx="219456" cy="219456"/>
          </a:xfrm>
          <a:prstGeom prst="rect">
            <a:avLst/>
          </a:prstGeom>
        </p:spPr>
      </p:pic>
      <p:sp>
        <p:nvSpPr>
          <p:cNvPr id="60" name="text-145"/>
          <p:cNvSpPr txBox="1"/>
          <p:nvPr/>
        </p:nvSpPr>
        <p:spPr>
          <a:xfrm>
            <a:off x="6720840" y="1234440"/>
            <a:ext cx="1965960" cy="685800"/>
          </a:xfrm>
          <a:prstGeom prst="rect">
            <a:avLst/>
          </a:prstGeom>
          <a:noFill/>
          <a:ln/>
        </p:spPr>
        <p:txBody>
          <a:bodyPr wrap="square" lIns="0" tIns="0" rIns="0" bIns="0" rtlCol="0" anchor="t"/>
          <a:lstStyle/>
          <a:p>
            <a:pPr indent="0" marL="0">
              <a:buNone/>
            </a:pPr>
            <a:r>
              <a:rPr lang="en-US" sz="1300" dirty="0">
                <a:solidFill>
                  <a:schemeClr val="tx1"/>
                </a:solidFill>
              </a:rPr>
              <a:t>Approval gate after every phase</a:t>
            </a:r>
            <a:endParaRPr lang="en-US" sz="1300" dirty="0"/>
          </a:p>
        </p:txBody>
      </p:sp>
      <p:sp>
        <p:nvSpPr>
          <p:cNvPr id="61" name="icon-circle-146"/>
          <p:cNvSpPr/>
          <p:nvPr/>
        </p:nvSpPr>
        <p:spPr>
          <a:xfrm>
            <a:off x="6126480" y="2039112"/>
            <a:ext cx="457200" cy="457200"/>
          </a:xfrm>
          <a:prstGeom prst="ellipse">
            <a:avLst/>
          </a:prstGeom>
          <a:solidFill>
            <a:schemeClr val="accent1"/>
          </a:solidFill>
          <a:ln/>
        </p:spPr>
      </p:sp>
      <p:pic>
        <p:nvPicPr>
          <p:cNvPr id="62" name="icon-147" descr="icon">    </p:cNvPr>
          <p:cNvPicPr>
            <a:picLocks noChangeAspect="1"/>
          </p:cNvPicPr>
          <p:nvPr/>
        </p:nvPicPr>
        <p:blipFill>
          <a:blip r:embed="rId2"/>
          <a:stretch>
            <a:fillRect/>
          </a:stretch>
        </p:blipFill>
        <p:spPr>
          <a:xfrm>
            <a:off x="6245352" y="2157984"/>
            <a:ext cx="219456" cy="219456"/>
          </a:xfrm>
          <a:prstGeom prst="rect">
            <a:avLst/>
          </a:prstGeom>
        </p:spPr>
      </p:pic>
      <p:sp>
        <p:nvSpPr>
          <p:cNvPr id="63" name="text-148"/>
          <p:cNvSpPr txBox="1"/>
          <p:nvPr/>
        </p:nvSpPr>
        <p:spPr>
          <a:xfrm>
            <a:off x="6720840" y="2039112"/>
            <a:ext cx="1965960" cy="685800"/>
          </a:xfrm>
          <a:prstGeom prst="rect">
            <a:avLst/>
          </a:prstGeom>
          <a:noFill/>
          <a:ln/>
        </p:spPr>
        <p:txBody>
          <a:bodyPr wrap="square" lIns="0" tIns="0" rIns="0" bIns="0" rtlCol="0" anchor="t"/>
          <a:lstStyle/>
          <a:p>
            <a:pPr indent="0" marL="0">
              <a:buNone/>
            </a:pPr>
            <a:r>
              <a:rPr lang="en-US" sz="1300" dirty="0">
                <a:solidFill>
                  <a:schemeClr val="tx1"/>
                </a:solidFill>
              </a:rPr>
              <a:t>At most five questions per message to the product owner</a:t>
            </a:r>
            <a:endParaRPr lang="en-US" sz="1300" dirty="0"/>
          </a:p>
        </p:txBody>
      </p:sp>
      <p:sp>
        <p:nvSpPr>
          <p:cNvPr id="64" name="icon-circle-149"/>
          <p:cNvSpPr/>
          <p:nvPr/>
        </p:nvSpPr>
        <p:spPr>
          <a:xfrm>
            <a:off x="6126480" y="2843784"/>
            <a:ext cx="457200" cy="457200"/>
          </a:xfrm>
          <a:prstGeom prst="ellipse">
            <a:avLst/>
          </a:prstGeom>
          <a:solidFill>
            <a:schemeClr val="accent1"/>
          </a:solidFill>
          <a:ln/>
        </p:spPr>
      </p:sp>
      <p:pic>
        <p:nvPicPr>
          <p:cNvPr id="65" name="icon-150" descr="icon">    </p:cNvPr>
          <p:cNvPicPr>
            <a:picLocks noChangeAspect="1"/>
          </p:cNvPicPr>
          <p:nvPr/>
        </p:nvPicPr>
        <p:blipFill>
          <a:blip r:embed="rId3"/>
          <a:stretch>
            <a:fillRect/>
          </a:stretch>
        </p:blipFill>
        <p:spPr>
          <a:xfrm>
            <a:off x="6245352" y="2962656"/>
            <a:ext cx="219456" cy="219456"/>
          </a:xfrm>
          <a:prstGeom prst="rect">
            <a:avLst/>
          </a:prstGeom>
        </p:spPr>
      </p:pic>
      <p:sp>
        <p:nvSpPr>
          <p:cNvPr id="66" name="text-151"/>
          <p:cNvSpPr txBox="1"/>
          <p:nvPr/>
        </p:nvSpPr>
        <p:spPr>
          <a:xfrm>
            <a:off x="6720840" y="2843784"/>
            <a:ext cx="1965960" cy="685800"/>
          </a:xfrm>
          <a:prstGeom prst="rect">
            <a:avLst/>
          </a:prstGeom>
          <a:noFill/>
          <a:ln/>
        </p:spPr>
        <p:txBody>
          <a:bodyPr wrap="square" lIns="0" tIns="0" rIns="0" bIns="0" rtlCol="0" anchor="t"/>
          <a:lstStyle/>
          <a:p>
            <a:pPr indent="0" marL="0">
              <a:buNone/>
            </a:pPr>
            <a:r>
              <a:rPr lang="en-US" sz="1300" dirty="0">
                <a:solidFill>
                  <a:schemeClr val="tx1"/>
                </a:solidFill>
              </a:rPr>
              <a:t>Each decision logged in 00-summary.md</a:t>
            </a:r>
            <a:endParaRPr lang="en-US" sz="1300" dirty="0"/>
          </a:p>
        </p:txBody>
      </p:sp>
      <p:sp>
        <p:nvSpPr>
          <p:cNvPr id="67" name="icon-circle-152"/>
          <p:cNvSpPr/>
          <p:nvPr/>
        </p:nvSpPr>
        <p:spPr>
          <a:xfrm>
            <a:off x="6126480" y="3648456"/>
            <a:ext cx="457200" cy="457200"/>
          </a:xfrm>
          <a:prstGeom prst="ellipse">
            <a:avLst/>
          </a:prstGeom>
          <a:solidFill>
            <a:schemeClr val="accent1"/>
          </a:solidFill>
          <a:ln/>
        </p:spPr>
      </p:sp>
      <p:pic>
        <p:nvPicPr>
          <p:cNvPr id="68" name="icon-153" descr="icon">    </p:cNvPr>
          <p:cNvPicPr>
            <a:picLocks noChangeAspect="1"/>
          </p:cNvPicPr>
          <p:nvPr/>
        </p:nvPicPr>
        <p:blipFill>
          <a:blip r:embed="rId4"/>
          <a:stretch>
            <a:fillRect/>
          </a:stretch>
        </p:blipFill>
        <p:spPr>
          <a:xfrm>
            <a:off x="6245352" y="3767328"/>
            <a:ext cx="219456" cy="219456"/>
          </a:xfrm>
          <a:prstGeom prst="rect">
            <a:avLst/>
          </a:prstGeom>
        </p:spPr>
      </p:pic>
      <p:sp>
        <p:nvSpPr>
          <p:cNvPr id="69" name="text-154"/>
          <p:cNvSpPr txBox="1"/>
          <p:nvPr/>
        </p:nvSpPr>
        <p:spPr>
          <a:xfrm>
            <a:off x="6720840" y="3648456"/>
            <a:ext cx="1965960" cy="685800"/>
          </a:xfrm>
          <a:prstGeom prst="rect">
            <a:avLst/>
          </a:prstGeom>
          <a:noFill/>
          <a:ln/>
        </p:spPr>
        <p:txBody>
          <a:bodyPr wrap="square" lIns="0" tIns="0" rIns="0" bIns="0" rtlCol="0" anchor="t"/>
          <a:lstStyle/>
          <a:p>
            <a:pPr indent="0" marL="0">
              <a:buNone/>
            </a:pPr>
            <a:r>
              <a:rPr lang="en-US" sz="1300" dirty="0">
                <a:solidFill>
                  <a:schemeClr val="tx1"/>
                </a:solidFill>
              </a:rPr>
              <a:t>Advisor agents draft; the main session merges and saves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Concept and requirements set the scope</a:t>
            </a:r>
            <a:endParaRPr lang="en-US" sz="3000" dirty="0"/>
          </a:p>
        </p:txBody>
      </p:sp>
      <p:sp>
        <p:nvSpPr>
          <p:cNvPr id="3" name="text-155"/>
          <p:cNvSpPr txBox="1"/>
          <p:nvPr/>
        </p:nvSpPr>
        <p:spPr>
          <a:xfrm>
            <a:off x="457200" y="1051560"/>
            <a:ext cx="1920240" cy="594360"/>
          </a:xfrm>
          <a:prstGeom prst="rect">
            <a:avLst/>
          </a:prstGeom>
          <a:noFill/>
          <a:ln/>
        </p:spPr>
        <p:txBody>
          <a:bodyPr wrap="square" lIns="0" tIns="0" rIns="0" bIns="0" rtlCol="0" anchor="b"/>
          <a:lstStyle/>
          <a:p>
            <a:pPr indent="0" marL="0">
              <a:buNone/>
            </a:pPr>
            <a:r>
              <a:rPr lang="en-US" sz="3600" b="1" dirty="0">
                <a:solidFill>
                  <a:schemeClr val="accent1"/>
                </a:solidFill>
              </a:rPr>
              <a:t>60</a:t>
            </a:r>
            <a:endParaRPr lang="en-US" sz="3600" dirty="0"/>
          </a:p>
        </p:txBody>
      </p:sp>
      <p:sp>
        <p:nvSpPr>
          <p:cNvPr id="4" name="text-156"/>
          <p:cNvSpPr txBox="1"/>
          <p:nvPr/>
        </p:nvSpPr>
        <p:spPr>
          <a:xfrm>
            <a:off x="457200" y="1691640"/>
            <a:ext cx="1920240" cy="457200"/>
          </a:xfrm>
          <a:prstGeom prst="rect">
            <a:avLst/>
          </a:prstGeom>
          <a:noFill/>
          <a:ln/>
        </p:spPr>
        <p:txBody>
          <a:bodyPr wrap="square" lIns="0" tIns="0" rIns="0" bIns="0" rtlCol="0" anchor="t"/>
          <a:lstStyle/>
          <a:p>
            <a:pPr indent="0" marL="0">
              <a:buNone/>
            </a:pPr>
            <a:r>
              <a:rPr lang="en-US" sz="1200" dirty="0">
                <a:solidFill>
                  <a:schemeClr val="tx1"/>
                </a:solidFill>
              </a:rPr>
              <a:t>user stories with Given / When / Then</a:t>
            </a:r>
            <a:endParaRPr lang="en-US" sz="1200" dirty="0"/>
          </a:p>
        </p:txBody>
      </p:sp>
      <p:sp>
        <p:nvSpPr>
          <p:cNvPr id="5" name="text-157"/>
          <p:cNvSpPr txBox="1"/>
          <p:nvPr/>
        </p:nvSpPr>
        <p:spPr>
          <a:xfrm>
            <a:off x="2560320" y="1051560"/>
            <a:ext cx="1920240" cy="594360"/>
          </a:xfrm>
          <a:prstGeom prst="rect">
            <a:avLst/>
          </a:prstGeom>
          <a:noFill/>
          <a:ln/>
        </p:spPr>
        <p:txBody>
          <a:bodyPr wrap="square" lIns="0" tIns="0" rIns="0" bIns="0" rtlCol="0" anchor="b"/>
          <a:lstStyle/>
          <a:p>
            <a:pPr indent="0" marL="0">
              <a:buNone/>
            </a:pPr>
            <a:r>
              <a:rPr lang="en-US" sz="3600" b="1" dirty="0">
                <a:solidFill>
                  <a:schemeClr val="accent1"/>
                </a:solidFill>
              </a:rPr>
              <a:t>52</a:t>
            </a:r>
            <a:endParaRPr lang="en-US" sz="3600" dirty="0"/>
          </a:p>
        </p:txBody>
      </p:sp>
      <p:sp>
        <p:nvSpPr>
          <p:cNvPr id="6" name="text-158"/>
          <p:cNvSpPr txBox="1"/>
          <p:nvPr/>
        </p:nvSpPr>
        <p:spPr>
          <a:xfrm>
            <a:off x="2560320" y="1691640"/>
            <a:ext cx="1920240" cy="457200"/>
          </a:xfrm>
          <a:prstGeom prst="rect">
            <a:avLst/>
          </a:prstGeom>
          <a:noFill/>
          <a:ln/>
        </p:spPr>
        <p:txBody>
          <a:bodyPr wrap="square" lIns="0" tIns="0" rIns="0" bIns="0" rtlCol="0" anchor="t"/>
          <a:lstStyle/>
          <a:p>
            <a:pPr indent="0" marL="0">
              <a:buNone/>
            </a:pPr>
            <a:r>
              <a:rPr lang="en-US" sz="1200" dirty="0">
                <a:solidFill>
                  <a:schemeClr val="tx1"/>
                </a:solidFill>
              </a:rPr>
              <a:t>endpoints planned</a:t>
            </a:r>
            <a:endParaRPr lang="en-US" sz="1200" dirty="0"/>
          </a:p>
        </p:txBody>
      </p:sp>
      <p:sp>
        <p:nvSpPr>
          <p:cNvPr id="7" name="text-159"/>
          <p:cNvSpPr txBox="1"/>
          <p:nvPr/>
        </p:nvSpPr>
        <p:spPr>
          <a:xfrm>
            <a:off x="4663440" y="1051560"/>
            <a:ext cx="1920240" cy="594360"/>
          </a:xfrm>
          <a:prstGeom prst="rect">
            <a:avLst/>
          </a:prstGeom>
          <a:noFill/>
          <a:ln/>
        </p:spPr>
        <p:txBody>
          <a:bodyPr wrap="square" lIns="0" tIns="0" rIns="0" bIns="0" rtlCol="0" anchor="b"/>
          <a:lstStyle/>
          <a:p>
            <a:pPr indent="0" marL="0">
              <a:buNone/>
            </a:pPr>
            <a:r>
              <a:rPr lang="en-US" sz="3600" b="1" dirty="0">
                <a:solidFill>
                  <a:schemeClr val="accent1"/>
                </a:solidFill>
              </a:rPr>
              <a:t>3</a:t>
            </a:r>
            <a:endParaRPr lang="en-US" sz="3600" dirty="0"/>
          </a:p>
        </p:txBody>
      </p:sp>
      <p:sp>
        <p:nvSpPr>
          <p:cNvPr id="8" name="text-160"/>
          <p:cNvSpPr txBox="1"/>
          <p:nvPr/>
        </p:nvSpPr>
        <p:spPr>
          <a:xfrm>
            <a:off x="4663440" y="1691640"/>
            <a:ext cx="1920240" cy="457200"/>
          </a:xfrm>
          <a:prstGeom prst="rect">
            <a:avLst/>
          </a:prstGeom>
          <a:noFill/>
          <a:ln/>
        </p:spPr>
        <p:txBody>
          <a:bodyPr wrap="square" lIns="0" tIns="0" rIns="0" bIns="0" rtlCol="0" anchor="t"/>
          <a:lstStyle/>
          <a:p>
            <a:pPr indent="0" marL="0">
              <a:buNone/>
            </a:pPr>
            <a:r>
              <a:rPr lang="en-US" sz="1200" dirty="0">
                <a:solidFill>
                  <a:schemeClr val="tx1"/>
                </a:solidFill>
              </a:rPr>
              <a:t>callers in the permission matrix</a:t>
            </a:r>
            <a:endParaRPr lang="en-US" sz="1200" dirty="0"/>
          </a:p>
        </p:txBody>
      </p:sp>
      <p:sp>
        <p:nvSpPr>
          <p:cNvPr id="9" name="text-161"/>
          <p:cNvSpPr txBox="1"/>
          <p:nvPr/>
        </p:nvSpPr>
        <p:spPr>
          <a:xfrm>
            <a:off x="6766560" y="1051560"/>
            <a:ext cx="1920240" cy="594360"/>
          </a:xfrm>
          <a:prstGeom prst="rect">
            <a:avLst/>
          </a:prstGeom>
          <a:noFill/>
          <a:ln/>
        </p:spPr>
        <p:txBody>
          <a:bodyPr wrap="square" lIns="0" tIns="0" rIns="0" bIns="0" rtlCol="0" anchor="b"/>
          <a:lstStyle/>
          <a:p>
            <a:pPr indent="0" marL="0">
              <a:buNone/>
            </a:pPr>
            <a:r>
              <a:rPr lang="en-US" sz="3600" b="1" dirty="0">
                <a:solidFill>
                  <a:schemeClr val="accent1"/>
                </a:solidFill>
              </a:rPr>
              <a:t>16</a:t>
            </a:r>
            <a:endParaRPr lang="en-US" sz="3600" dirty="0"/>
          </a:p>
        </p:txBody>
      </p:sp>
      <p:sp>
        <p:nvSpPr>
          <p:cNvPr id="10" name="text-162"/>
          <p:cNvSpPr txBox="1"/>
          <p:nvPr/>
        </p:nvSpPr>
        <p:spPr>
          <a:xfrm>
            <a:off x="6766560" y="1691640"/>
            <a:ext cx="1920240" cy="457200"/>
          </a:xfrm>
          <a:prstGeom prst="rect">
            <a:avLst/>
          </a:prstGeom>
          <a:noFill/>
          <a:ln/>
        </p:spPr>
        <p:txBody>
          <a:bodyPr wrap="square" lIns="0" tIns="0" rIns="0" bIns="0" rtlCol="0" anchor="t"/>
          <a:lstStyle/>
          <a:p>
            <a:pPr indent="0" marL="0">
              <a:buNone/>
            </a:pPr>
            <a:r>
              <a:rPr lang="en-US" sz="1200" dirty="0">
                <a:solidFill>
                  <a:schemeClr val="tx1"/>
                </a:solidFill>
              </a:rPr>
              <a:t>review decisions (D1-D16)</a:t>
            </a:r>
            <a:endParaRPr lang="en-US" sz="1200" dirty="0"/>
          </a:p>
        </p:txBody>
      </p:sp>
      <p:sp>
        <p:nvSpPr>
          <p:cNvPr id="11" name="card-163"/>
          <p:cNvSpPr/>
          <p:nvPr/>
        </p:nvSpPr>
        <p:spPr>
          <a:xfrm>
            <a:off x="457200" y="2514600"/>
            <a:ext cx="4023360" cy="1828800"/>
          </a:xfrm>
          <a:prstGeom prst="roundRect">
            <a:avLst>
              <a:gd name="adj" fmla="val 4000"/>
            </a:avLst>
          </a:prstGeom>
          <a:solidFill>
            <a:schemeClr val="bg2"/>
          </a:solidFill>
          <a:ln/>
        </p:spPr>
      </p:sp>
      <p:sp>
        <p:nvSpPr>
          <p:cNvPr id="12" name="icon-circle-164"/>
          <p:cNvSpPr/>
          <p:nvPr/>
        </p:nvSpPr>
        <p:spPr>
          <a:xfrm>
            <a:off x="685800" y="2697480"/>
            <a:ext cx="457200" cy="457200"/>
          </a:xfrm>
          <a:prstGeom prst="ellipse">
            <a:avLst/>
          </a:prstGeom>
          <a:solidFill>
            <a:schemeClr val="accent1"/>
          </a:solidFill>
          <a:ln/>
        </p:spPr>
      </p:sp>
      <p:pic>
        <p:nvPicPr>
          <p:cNvPr id="13" name="icon-165" descr="icon">    </p:cNvPr>
          <p:cNvPicPr>
            <a:picLocks noChangeAspect="1"/>
          </p:cNvPicPr>
          <p:nvPr/>
        </p:nvPicPr>
        <p:blipFill>
          <a:blip r:embed="rId1"/>
          <a:stretch>
            <a:fillRect/>
          </a:stretch>
        </p:blipFill>
        <p:spPr>
          <a:xfrm>
            <a:off x="804672" y="2816352"/>
            <a:ext cx="219456" cy="219456"/>
          </a:xfrm>
          <a:prstGeom prst="rect">
            <a:avLst/>
          </a:prstGeom>
        </p:spPr>
      </p:pic>
      <p:sp>
        <p:nvSpPr>
          <p:cNvPr id="14" name="text-166"/>
          <p:cNvSpPr txBox="1"/>
          <p:nvPr/>
        </p:nvSpPr>
        <p:spPr>
          <a:xfrm>
            <a:off x="1280160" y="2679192"/>
            <a:ext cx="3017520" cy="274320"/>
          </a:xfrm>
          <a:prstGeom prst="rect">
            <a:avLst/>
          </a:prstGeom>
          <a:noFill/>
          <a:ln/>
        </p:spPr>
        <p:txBody>
          <a:bodyPr wrap="square" lIns="0" tIns="0" rIns="0" bIns="0" rtlCol="0" anchor="t"/>
          <a:lstStyle/>
          <a:p>
            <a:pPr indent="0" marL="0">
              <a:buNone/>
            </a:pPr>
            <a:r>
              <a:rPr lang="en-US" sz="1500" b="1" dirty="0">
                <a:solidFill>
                  <a:schemeClr val="tx2"/>
                </a:solidFill>
              </a:rPr>
              <a:t>Concept</a:t>
            </a:r>
            <a:endParaRPr lang="en-US" sz="1500" dirty="0"/>
          </a:p>
        </p:txBody>
      </p:sp>
      <p:sp>
        <p:nvSpPr>
          <p:cNvPr id="15" name="text-167"/>
          <p:cNvSpPr txBox="1"/>
          <p:nvPr/>
        </p:nvSpPr>
        <p:spPr>
          <a:xfrm>
            <a:off x="1280160" y="2953512"/>
            <a:ext cx="3017520" cy="228600"/>
          </a:xfrm>
          <a:prstGeom prst="rect">
            <a:avLst/>
          </a:prstGeom>
          <a:noFill/>
          <a:ln/>
        </p:spPr>
        <p:txBody>
          <a:bodyPr wrap="square" lIns="0" tIns="0" rIns="0" bIns="0" rtlCol="0" anchor="t"/>
          <a:lstStyle/>
          <a:p>
            <a:pPr indent="0" marL="0">
              <a:buNone/>
            </a:pPr>
            <a:r>
              <a:rPr lang="en-US" sz="1100" dirty="0">
                <a:solidFill>
                  <a:schemeClr val="accent5"/>
                </a:solidFill>
              </a:rPr>
              <a:t>product-strategist + lean-canvas</a:t>
            </a:r>
            <a:endParaRPr lang="en-US" sz="1100" dirty="0"/>
          </a:p>
        </p:txBody>
      </p:sp>
      <p:sp>
        <p:nvSpPr>
          <p:cNvPr id="16" name="text-168"/>
          <p:cNvSpPr txBox="1"/>
          <p:nvPr/>
        </p:nvSpPr>
        <p:spPr>
          <a:xfrm>
            <a:off x="685800" y="3337560"/>
            <a:ext cx="3566160" cy="914400"/>
          </a:xfrm>
          <a:prstGeom prst="rect">
            <a:avLst/>
          </a:prstGeom>
          <a:noFill/>
          <a:ln/>
        </p:spPr>
        <p:txBody>
          <a:bodyPr wrap="square" lIns="0" tIns="0" rIns="0" bIns="0" rtlCol="0" anchor="t"/>
          <a:lstStyle/>
          <a:p>
            <a:pPr indent="0" marL="0">
              <a:buNone/>
            </a:pPr>
            <a:r>
              <a:rPr lang="en-US" sz="1300" dirty="0">
                <a:solidFill>
                  <a:schemeClr val="tx1"/>
                </a:solidFill>
              </a:rPr>
              <a:t>Purpose: a reusable template for client APIs. North Star: share of endpoints that meet the Definition of Done (target 100%).</a:t>
            </a:r>
            <a:endParaRPr lang="en-US" sz="1300" dirty="0"/>
          </a:p>
        </p:txBody>
      </p:sp>
      <p:sp>
        <p:nvSpPr>
          <p:cNvPr id="17" name="card-169"/>
          <p:cNvSpPr/>
          <p:nvPr/>
        </p:nvSpPr>
        <p:spPr>
          <a:xfrm>
            <a:off x="4663440" y="2514600"/>
            <a:ext cx="4023360" cy="1828800"/>
          </a:xfrm>
          <a:prstGeom prst="roundRect">
            <a:avLst>
              <a:gd name="adj" fmla="val 4000"/>
            </a:avLst>
          </a:prstGeom>
          <a:solidFill>
            <a:schemeClr val="bg2"/>
          </a:solidFill>
          <a:ln/>
        </p:spPr>
      </p:sp>
      <p:sp>
        <p:nvSpPr>
          <p:cNvPr id="18" name="icon-circle-170"/>
          <p:cNvSpPr/>
          <p:nvPr/>
        </p:nvSpPr>
        <p:spPr>
          <a:xfrm>
            <a:off x="4892040" y="2697480"/>
            <a:ext cx="457200" cy="457200"/>
          </a:xfrm>
          <a:prstGeom prst="ellipse">
            <a:avLst/>
          </a:prstGeom>
          <a:solidFill>
            <a:schemeClr val="accent1"/>
          </a:solidFill>
          <a:ln/>
        </p:spPr>
      </p:sp>
      <p:pic>
        <p:nvPicPr>
          <p:cNvPr id="19" name="icon-171" descr="icon">    </p:cNvPr>
          <p:cNvPicPr>
            <a:picLocks noChangeAspect="1"/>
          </p:cNvPicPr>
          <p:nvPr/>
        </p:nvPicPr>
        <p:blipFill>
          <a:blip r:embed="rId2"/>
          <a:stretch>
            <a:fillRect/>
          </a:stretch>
        </p:blipFill>
        <p:spPr>
          <a:xfrm>
            <a:off x="5010912" y="2816352"/>
            <a:ext cx="219456" cy="219456"/>
          </a:xfrm>
          <a:prstGeom prst="rect">
            <a:avLst/>
          </a:prstGeom>
        </p:spPr>
      </p:pic>
      <p:sp>
        <p:nvSpPr>
          <p:cNvPr id="20" name="text-172"/>
          <p:cNvSpPr txBox="1"/>
          <p:nvPr/>
        </p:nvSpPr>
        <p:spPr>
          <a:xfrm>
            <a:off x="5486400" y="2679192"/>
            <a:ext cx="3017520" cy="274320"/>
          </a:xfrm>
          <a:prstGeom prst="rect">
            <a:avLst/>
          </a:prstGeom>
          <a:noFill/>
          <a:ln/>
        </p:spPr>
        <p:txBody>
          <a:bodyPr wrap="square" lIns="0" tIns="0" rIns="0" bIns="0" rtlCol="0" anchor="t"/>
          <a:lstStyle/>
          <a:p>
            <a:pPr indent="0" marL="0">
              <a:buNone/>
            </a:pPr>
            <a:r>
              <a:rPr lang="en-US" sz="1500" b="1" dirty="0">
                <a:solidFill>
                  <a:schemeClr val="tx2"/>
                </a:solidFill>
              </a:rPr>
              <a:t>Requirements</a:t>
            </a:r>
            <a:endParaRPr lang="en-US" sz="1500" dirty="0"/>
          </a:p>
        </p:txBody>
      </p:sp>
      <p:sp>
        <p:nvSpPr>
          <p:cNvPr id="21" name="text-173"/>
          <p:cNvSpPr txBox="1"/>
          <p:nvPr/>
        </p:nvSpPr>
        <p:spPr>
          <a:xfrm>
            <a:off x="5486400" y="2953512"/>
            <a:ext cx="3017520" cy="228600"/>
          </a:xfrm>
          <a:prstGeom prst="rect">
            <a:avLst/>
          </a:prstGeom>
          <a:noFill/>
          <a:ln/>
        </p:spPr>
        <p:txBody>
          <a:bodyPr wrap="square" lIns="0" tIns="0" rIns="0" bIns="0" rtlCol="0" anchor="t"/>
          <a:lstStyle/>
          <a:p>
            <a:pPr indent="0" marL="0">
              <a:buNone/>
            </a:pPr>
            <a:r>
              <a:rPr lang="en-US" sz="1100" dirty="0">
                <a:solidFill>
                  <a:schemeClr val="accent5"/>
                </a:solidFill>
              </a:rPr>
              <a:t>requirements-analyst, then 3 in parallel</a:t>
            </a:r>
            <a:endParaRPr lang="en-US" sz="1100" dirty="0"/>
          </a:p>
        </p:txBody>
      </p:sp>
      <p:sp>
        <p:nvSpPr>
          <p:cNvPr id="22" name="text-174"/>
          <p:cNvSpPr txBox="1"/>
          <p:nvPr/>
        </p:nvSpPr>
        <p:spPr>
          <a:xfrm>
            <a:off x="4892040" y="3337560"/>
            <a:ext cx="3566160" cy="914400"/>
          </a:xfrm>
          <a:prstGeom prst="rect">
            <a:avLst/>
          </a:prstGeom>
          <a:noFill/>
          <a:ln/>
        </p:spPr>
        <p:txBody>
          <a:bodyPr wrap="square" lIns="0" tIns="0" rIns="0" bIns="0" rtlCol="0" anchor="t"/>
          <a:lstStyle/>
          <a:p>
            <a:pPr indent="0" marL="0">
              <a:buNone/>
            </a:pPr>
            <a:r>
              <a:rPr lang="en-US" sz="1300" dirty="0">
                <a:solidFill>
                  <a:schemeClr val="tx1"/>
                </a:solidFill>
              </a:rPr>
              <a:t>PRD, endpoint list and a permission matrix for Admin, Customer and anonymous, then 60 stories in three files.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A pre-mortem attacked the plan before design</a:t>
            </a:r>
            <a:endParaRPr lang="en-US" sz="3000" dirty="0"/>
          </a:p>
        </p:txBody>
      </p:sp>
      <p:sp>
        <p:nvSpPr>
          <p:cNvPr id="3" name="text-175"/>
          <p:cNvSpPr txBox="1"/>
          <p:nvPr/>
        </p:nvSpPr>
        <p:spPr>
          <a:xfrm>
            <a:off x="457200" y="1051560"/>
            <a:ext cx="8229600" cy="411480"/>
          </a:xfrm>
          <a:prstGeom prst="rect">
            <a:avLst/>
          </a:prstGeom>
          <a:noFill/>
          <a:ln/>
        </p:spPr>
        <p:txBody>
          <a:bodyPr wrap="square" lIns="0" tIns="0" rIns="0" bIns="0" rtlCol="0" anchor="t"/>
          <a:lstStyle/>
          <a:p>
            <a:pPr indent="0" marL="0">
              <a:buNone/>
            </a:pPr>
            <a:r>
              <a:rPr lang="en-US" sz="1400" dirty="0">
                <a:solidFill>
                  <a:schemeClr val="tx1"/>
                </a:solidFill>
              </a:rPr>
              <a:t>devils-advocate imagined the project had failed and listed why: 12 failure reasons, 10 decisions (P1-P10).</a:t>
            </a:r>
            <a:endParaRPr lang="en-US" sz="1400" dirty="0"/>
          </a:p>
        </p:txBody>
      </p:sp>
      <p:sp>
        <p:nvSpPr>
          <p:cNvPr id="4" name="card-176"/>
          <p:cNvSpPr/>
          <p:nvPr/>
        </p:nvSpPr>
        <p:spPr>
          <a:xfrm>
            <a:off x="457200" y="1645920"/>
            <a:ext cx="2651760" cy="2926080"/>
          </a:xfrm>
          <a:prstGeom prst="roundRect">
            <a:avLst>
              <a:gd name="adj" fmla="val 2759"/>
            </a:avLst>
          </a:prstGeom>
          <a:solidFill>
            <a:schemeClr val="bg2"/>
          </a:solidFill>
          <a:ln/>
        </p:spPr>
      </p:sp>
      <p:sp>
        <p:nvSpPr>
          <p:cNvPr id="5" name="icon-circle-177"/>
          <p:cNvSpPr/>
          <p:nvPr/>
        </p:nvSpPr>
        <p:spPr>
          <a:xfrm>
            <a:off x="685800" y="1828800"/>
            <a:ext cx="502920" cy="502920"/>
          </a:xfrm>
          <a:prstGeom prst="ellipse">
            <a:avLst/>
          </a:prstGeom>
          <a:solidFill>
            <a:schemeClr val="accent4"/>
          </a:solidFill>
          <a:ln/>
        </p:spPr>
      </p:sp>
      <p:pic>
        <p:nvPicPr>
          <p:cNvPr id="6" name="icon-178" descr="icon">    </p:cNvPr>
          <p:cNvPicPr>
            <a:picLocks noChangeAspect="1"/>
          </p:cNvPicPr>
          <p:nvPr/>
        </p:nvPicPr>
        <p:blipFill>
          <a:blip r:embed="rId1"/>
          <a:stretch>
            <a:fillRect/>
          </a:stretch>
        </p:blipFill>
        <p:spPr>
          <a:xfrm>
            <a:off x="816559" y="1959559"/>
            <a:ext cx="241402" cy="241402"/>
          </a:xfrm>
          <a:prstGeom prst="rect">
            <a:avLst/>
          </a:prstGeom>
        </p:spPr>
      </p:pic>
      <p:sp>
        <p:nvSpPr>
          <p:cNvPr id="7" name="text-179"/>
          <p:cNvSpPr txBox="1"/>
          <p:nvPr/>
        </p:nvSpPr>
        <p:spPr>
          <a:xfrm>
            <a:off x="685800" y="2468880"/>
            <a:ext cx="2286000" cy="320040"/>
          </a:xfrm>
          <a:prstGeom prst="rect">
            <a:avLst/>
          </a:prstGeom>
          <a:noFill/>
          <a:ln/>
        </p:spPr>
        <p:txBody>
          <a:bodyPr wrap="square" lIns="0" tIns="0" rIns="0" bIns="0" rtlCol="0" anchor="t"/>
          <a:lstStyle/>
          <a:p>
            <a:pPr indent="0" marL="0">
              <a:buNone/>
            </a:pPr>
            <a:r>
              <a:rPr lang="en-US" sz="1500" b="1" dirty="0">
                <a:solidFill>
                  <a:schemeClr val="tx2"/>
                </a:solidFill>
              </a:rPr>
              <a:t>F1  Scope too big</a:t>
            </a:r>
            <a:endParaRPr lang="en-US" sz="1500" dirty="0"/>
          </a:p>
        </p:txBody>
      </p:sp>
      <p:sp>
        <p:nvSpPr>
          <p:cNvPr id="8" name="text-180"/>
          <p:cNvSpPr txBox="1"/>
          <p:nvPr/>
        </p:nvSpPr>
        <p:spPr>
          <a:xfrm>
            <a:off x="685800" y="2834640"/>
            <a:ext cx="2286000" cy="228600"/>
          </a:xfrm>
          <a:prstGeom prst="rect">
            <a:avLst/>
          </a:prstGeom>
          <a:noFill/>
          <a:ln/>
        </p:spPr>
        <p:txBody>
          <a:bodyPr wrap="square" lIns="0" tIns="0" rIns="0" bIns="0" rtlCol="0" anchor="t"/>
          <a:lstStyle/>
          <a:p>
            <a:pPr indent="0" marL="0">
              <a:buNone/>
            </a:pPr>
            <a:r>
              <a:rPr lang="en-US" sz="1100" b="1" dirty="0">
                <a:solidFill>
                  <a:schemeClr val="accent5"/>
                </a:solidFill>
              </a:rPr>
              <a:t>What goes wrong</a:t>
            </a:r>
            <a:endParaRPr lang="en-US" sz="1100" dirty="0"/>
          </a:p>
        </p:txBody>
      </p:sp>
      <p:sp>
        <p:nvSpPr>
          <p:cNvPr id="9" name="text-181"/>
          <p:cNvSpPr txBox="1"/>
          <p:nvPr/>
        </p:nvSpPr>
        <p:spPr>
          <a:xfrm>
            <a:off x="685800" y="3063240"/>
            <a:ext cx="2286000" cy="548640"/>
          </a:xfrm>
          <a:prstGeom prst="rect">
            <a:avLst/>
          </a:prstGeom>
          <a:noFill/>
          <a:ln/>
        </p:spPr>
        <p:txBody>
          <a:bodyPr wrap="square" lIns="0" tIns="0" rIns="0" bIns="0" rtlCol="0" anchor="t"/>
          <a:lstStyle/>
          <a:p>
            <a:pPr indent="0" marL="0">
              <a:buNone/>
            </a:pPr>
            <a:r>
              <a:rPr lang="en-US" sz="1200" dirty="0">
                <a:solidFill>
                  <a:schemeClr val="tx1"/>
                </a:solidFill>
              </a:rPr>
              <a:t>52 endpoints × a 9-item Definition of Done for one person</a:t>
            </a:r>
            <a:endParaRPr lang="en-US" sz="1200" dirty="0"/>
          </a:p>
        </p:txBody>
      </p:sp>
      <p:sp>
        <p:nvSpPr>
          <p:cNvPr id="10" name="text-182"/>
          <p:cNvSpPr txBox="1"/>
          <p:nvPr/>
        </p:nvSpPr>
        <p:spPr>
          <a:xfrm>
            <a:off x="685800" y="3657600"/>
            <a:ext cx="2286000" cy="228600"/>
          </a:xfrm>
          <a:prstGeom prst="rect">
            <a:avLst/>
          </a:prstGeom>
          <a:noFill/>
          <a:ln/>
        </p:spPr>
        <p:txBody>
          <a:bodyPr wrap="square" lIns="0" tIns="0" rIns="0" bIns="0" rtlCol="0" anchor="t"/>
          <a:lstStyle/>
          <a:p>
            <a:pPr indent="0" marL="0">
              <a:buNone/>
            </a:pPr>
            <a:r>
              <a:rPr lang="en-US" sz="1100" b="1" dirty="0">
                <a:solidFill>
                  <a:schemeClr val="accent3"/>
                </a:solidFill>
              </a:rPr>
              <a:t>Decision</a:t>
            </a:r>
            <a:endParaRPr lang="en-US" sz="1100" dirty="0"/>
          </a:p>
        </p:txBody>
      </p:sp>
      <p:sp>
        <p:nvSpPr>
          <p:cNvPr id="11" name="text-183"/>
          <p:cNvSpPr txBox="1"/>
          <p:nvPr/>
        </p:nvSpPr>
        <p:spPr>
          <a:xfrm>
            <a:off x="685800" y="3886200"/>
            <a:ext cx="2286000" cy="548640"/>
          </a:xfrm>
          <a:prstGeom prst="rect">
            <a:avLst/>
          </a:prstGeom>
          <a:noFill/>
          <a:ln/>
        </p:spPr>
        <p:txBody>
          <a:bodyPr wrap="square" lIns="0" tIns="0" rIns="0" bIns="0" rtlCol="0" anchor="t"/>
          <a:lstStyle/>
          <a:p>
            <a:pPr indent="0" marL="0">
              <a:buNone/>
            </a:pPr>
            <a:r>
              <a:rPr lang="en-US" sz="1200" dirty="0">
                <a:solidFill>
                  <a:schemeClr val="tx1"/>
                </a:solidFill>
              </a:rPr>
              <a:t>Hard time-box per slice; cut stretch work first</a:t>
            </a:r>
            <a:endParaRPr lang="en-US" sz="1200" dirty="0"/>
          </a:p>
        </p:txBody>
      </p:sp>
      <p:sp>
        <p:nvSpPr>
          <p:cNvPr id="12" name="card-184"/>
          <p:cNvSpPr/>
          <p:nvPr/>
        </p:nvSpPr>
        <p:spPr>
          <a:xfrm>
            <a:off x="3264408" y="1645920"/>
            <a:ext cx="2651760" cy="2926080"/>
          </a:xfrm>
          <a:prstGeom prst="roundRect">
            <a:avLst>
              <a:gd name="adj" fmla="val 2759"/>
            </a:avLst>
          </a:prstGeom>
          <a:solidFill>
            <a:schemeClr val="bg2"/>
          </a:solidFill>
          <a:ln/>
        </p:spPr>
      </p:sp>
      <p:sp>
        <p:nvSpPr>
          <p:cNvPr id="13" name="icon-circle-185"/>
          <p:cNvSpPr/>
          <p:nvPr/>
        </p:nvSpPr>
        <p:spPr>
          <a:xfrm>
            <a:off x="3493008" y="1828800"/>
            <a:ext cx="502920" cy="502920"/>
          </a:xfrm>
          <a:prstGeom prst="ellipse">
            <a:avLst/>
          </a:prstGeom>
          <a:solidFill>
            <a:schemeClr val="accent2"/>
          </a:solidFill>
          <a:ln/>
        </p:spPr>
      </p:sp>
      <p:pic>
        <p:nvPicPr>
          <p:cNvPr id="14" name="icon-186" descr="icon">    </p:cNvPr>
          <p:cNvPicPr>
            <a:picLocks noChangeAspect="1"/>
          </p:cNvPicPr>
          <p:nvPr/>
        </p:nvPicPr>
        <p:blipFill>
          <a:blip r:embed="rId2"/>
          <a:stretch>
            <a:fillRect/>
          </a:stretch>
        </p:blipFill>
        <p:spPr>
          <a:xfrm>
            <a:off x="3623767" y="1959559"/>
            <a:ext cx="241402" cy="241402"/>
          </a:xfrm>
          <a:prstGeom prst="rect">
            <a:avLst/>
          </a:prstGeom>
        </p:spPr>
      </p:pic>
      <p:sp>
        <p:nvSpPr>
          <p:cNvPr id="15" name="text-187"/>
          <p:cNvSpPr txBox="1"/>
          <p:nvPr/>
        </p:nvSpPr>
        <p:spPr>
          <a:xfrm>
            <a:off x="3493008" y="2468880"/>
            <a:ext cx="2286000" cy="320040"/>
          </a:xfrm>
          <a:prstGeom prst="rect">
            <a:avLst/>
          </a:prstGeom>
          <a:noFill/>
          <a:ln/>
        </p:spPr>
        <p:txBody>
          <a:bodyPr wrap="square" lIns="0" tIns="0" rIns="0" bIns="0" rtlCol="0" anchor="t"/>
          <a:lstStyle/>
          <a:p>
            <a:pPr indent="0" marL="0">
              <a:buNone/>
            </a:pPr>
            <a:r>
              <a:rPr lang="en-US" sz="1500" b="1" dirty="0">
                <a:solidFill>
                  <a:schemeClr val="tx2"/>
                </a:solidFill>
              </a:rPr>
              <a:t>F2  Never reused</a:t>
            </a:r>
            <a:endParaRPr lang="en-US" sz="1500" dirty="0"/>
          </a:p>
        </p:txBody>
      </p:sp>
      <p:sp>
        <p:nvSpPr>
          <p:cNvPr id="16" name="text-188"/>
          <p:cNvSpPr txBox="1"/>
          <p:nvPr/>
        </p:nvSpPr>
        <p:spPr>
          <a:xfrm>
            <a:off x="3493008" y="2834640"/>
            <a:ext cx="2286000" cy="228600"/>
          </a:xfrm>
          <a:prstGeom prst="rect">
            <a:avLst/>
          </a:prstGeom>
          <a:noFill/>
          <a:ln/>
        </p:spPr>
        <p:txBody>
          <a:bodyPr wrap="square" lIns="0" tIns="0" rIns="0" bIns="0" rtlCol="0" anchor="t"/>
          <a:lstStyle/>
          <a:p>
            <a:pPr indent="0" marL="0">
              <a:buNone/>
            </a:pPr>
            <a:r>
              <a:rPr lang="en-US" sz="1100" b="1" dirty="0">
                <a:solidFill>
                  <a:schemeClr val="accent5"/>
                </a:solidFill>
              </a:rPr>
              <a:t>What goes wrong</a:t>
            </a:r>
            <a:endParaRPr lang="en-US" sz="1100" dirty="0"/>
          </a:p>
        </p:txBody>
      </p:sp>
      <p:sp>
        <p:nvSpPr>
          <p:cNvPr id="17" name="text-189"/>
          <p:cNvSpPr txBox="1"/>
          <p:nvPr/>
        </p:nvSpPr>
        <p:spPr>
          <a:xfrm>
            <a:off x="3493008" y="3063240"/>
            <a:ext cx="2286000" cy="548640"/>
          </a:xfrm>
          <a:prstGeom prst="rect">
            <a:avLst/>
          </a:prstGeom>
          <a:noFill/>
          <a:ln/>
        </p:spPr>
        <p:txBody>
          <a:bodyPr wrap="square" lIns="0" tIns="0" rIns="0" bIns="0" rtlCol="0" anchor="t"/>
          <a:lstStyle/>
          <a:p>
            <a:pPr indent="0" marL="0">
              <a:buNone/>
            </a:pPr>
            <a:r>
              <a:rPr lang="en-US" sz="1200" dirty="0">
                <a:solidFill>
                  <a:schemeClr val="tx1"/>
                </a:solidFill>
              </a:rPr>
              <a:t>Patterns tangled with Orders code; no template</a:t>
            </a:r>
            <a:endParaRPr lang="en-US" sz="1200" dirty="0"/>
          </a:p>
        </p:txBody>
      </p:sp>
      <p:sp>
        <p:nvSpPr>
          <p:cNvPr id="18" name="text-190"/>
          <p:cNvSpPr txBox="1"/>
          <p:nvPr/>
        </p:nvSpPr>
        <p:spPr>
          <a:xfrm>
            <a:off x="3493008" y="3657600"/>
            <a:ext cx="2286000" cy="228600"/>
          </a:xfrm>
          <a:prstGeom prst="rect">
            <a:avLst/>
          </a:prstGeom>
          <a:noFill/>
          <a:ln/>
        </p:spPr>
        <p:txBody>
          <a:bodyPr wrap="square" lIns="0" tIns="0" rIns="0" bIns="0" rtlCol="0" anchor="t"/>
          <a:lstStyle/>
          <a:p>
            <a:pPr indent="0" marL="0">
              <a:buNone/>
            </a:pPr>
            <a:r>
              <a:rPr lang="en-US" sz="1100" b="1" dirty="0">
                <a:solidFill>
                  <a:schemeClr val="accent3"/>
                </a:solidFill>
              </a:rPr>
              <a:t>Decision</a:t>
            </a:r>
            <a:endParaRPr lang="en-US" sz="1100" dirty="0"/>
          </a:p>
        </p:txBody>
      </p:sp>
      <p:sp>
        <p:nvSpPr>
          <p:cNvPr id="19" name="text-191"/>
          <p:cNvSpPr txBox="1"/>
          <p:nvPr/>
        </p:nvSpPr>
        <p:spPr>
          <a:xfrm>
            <a:off x="3493008" y="3886200"/>
            <a:ext cx="2286000" cy="548640"/>
          </a:xfrm>
          <a:prstGeom prst="rect">
            <a:avLst/>
          </a:prstGeom>
          <a:noFill/>
          <a:ln/>
        </p:spPr>
        <p:txBody>
          <a:bodyPr wrap="square" lIns="0" tIns="0" rIns="0" bIns="0" rtlCol="0" anchor="t"/>
          <a:lstStyle/>
          <a:p>
            <a:pPr indent="0" marL="0">
              <a:buNone/>
            </a:pPr>
            <a:r>
              <a:rPr lang="en-US" sz="1200" dirty="0">
                <a:solidFill>
                  <a:schemeClr val="tx1"/>
                </a:solidFill>
              </a:rPr>
              <a:t>Template extraction is a deliverable (Epic E6)</a:t>
            </a:r>
            <a:endParaRPr lang="en-US" sz="1200" dirty="0"/>
          </a:p>
        </p:txBody>
      </p:sp>
      <p:sp>
        <p:nvSpPr>
          <p:cNvPr id="20" name="card-192"/>
          <p:cNvSpPr/>
          <p:nvPr/>
        </p:nvSpPr>
        <p:spPr>
          <a:xfrm>
            <a:off x="6071616" y="1645920"/>
            <a:ext cx="2651760" cy="2926080"/>
          </a:xfrm>
          <a:prstGeom prst="roundRect">
            <a:avLst>
              <a:gd name="adj" fmla="val 2759"/>
            </a:avLst>
          </a:prstGeom>
          <a:solidFill>
            <a:schemeClr val="bg2"/>
          </a:solidFill>
          <a:ln/>
        </p:spPr>
      </p:sp>
      <p:sp>
        <p:nvSpPr>
          <p:cNvPr id="21" name="icon-circle-193"/>
          <p:cNvSpPr/>
          <p:nvPr/>
        </p:nvSpPr>
        <p:spPr>
          <a:xfrm>
            <a:off x="6300216" y="1828800"/>
            <a:ext cx="502920" cy="502920"/>
          </a:xfrm>
          <a:prstGeom prst="ellipse">
            <a:avLst/>
          </a:prstGeom>
          <a:solidFill>
            <a:schemeClr val="accent1"/>
          </a:solidFill>
          <a:ln/>
        </p:spPr>
      </p:sp>
      <p:pic>
        <p:nvPicPr>
          <p:cNvPr id="22" name="icon-194" descr="icon">    </p:cNvPr>
          <p:cNvPicPr>
            <a:picLocks noChangeAspect="1"/>
          </p:cNvPicPr>
          <p:nvPr/>
        </p:nvPicPr>
        <p:blipFill>
          <a:blip r:embed="rId3"/>
          <a:stretch>
            <a:fillRect/>
          </a:stretch>
        </p:blipFill>
        <p:spPr>
          <a:xfrm>
            <a:off x="6430975" y="1959559"/>
            <a:ext cx="241402" cy="241402"/>
          </a:xfrm>
          <a:prstGeom prst="rect">
            <a:avLst/>
          </a:prstGeom>
        </p:spPr>
      </p:pic>
      <p:sp>
        <p:nvSpPr>
          <p:cNvPr id="23" name="text-195"/>
          <p:cNvSpPr txBox="1"/>
          <p:nvPr/>
        </p:nvSpPr>
        <p:spPr>
          <a:xfrm>
            <a:off x="6300216" y="2468880"/>
            <a:ext cx="2286000" cy="320040"/>
          </a:xfrm>
          <a:prstGeom prst="rect">
            <a:avLst/>
          </a:prstGeom>
          <a:noFill/>
          <a:ln/>
        </p:spPr>
        <p:txBody>
          <a:bodyPr wrap="square" lIns="0" tIns="0" rIns="0" bIns="0" rtlCol="0" anchor="t"/>
          <a:lstStyle/>
          <a:p>
            <a:pPr indent="0" marL="0">
              <a:buNone/>
            </a:pPr>
            <a:r>
              <a:rPr lang="en-US" sz="1500" b="1" dirty="0">
                <a:solidFill>
                  <a:schemeClr val="tx2"/>
                </a:solidFill>
              </a:rPr>
              <a:t>F3  Flaky stock locking</a:t>
            </a:r>
            <a:endParaRPr lang="en-US" sz="1500" dirty="0"/>
          </a:p>
        </p:txBody>
      </p:sp>
      <p:sp>
        <p:nvSpPr>
          <p:cNvPr id="24" name="text-196"/>
          <p:cNvSpPr txBox="1"/>
          <p:nvPr/>
        </p:nvSpPr>
        <p:spPr>
          <a:xfrm>
            <a:off x="6300216" y="2834640"/>
            <a:ext cx="2286000" cy="228600"/>
          </a:xfrm>
          <a:prstGeom prst="rect">
            <a:avLst/>
          </a:prstGeom>
          <a:noFill/>
          <a:ln/>
        </p:spPr>
        <p:txBody>
          <a:bodyPr wrap="square" lIns="0" tIns="0" rIns="0" bIns="0" rtlCol="0" anchor="t"/>
          <a:lstStyle/>
          <a:p>
            <a:pPr indent="0" marL="0">
              <a:buNone/>
            </a:pPr>
            <a:r>
              <a:rPr lang="en-US" sz="1100" b="1" dirty="0">
                <a:solidFill>
                  <a:schemeClr val="accent5"/>
                </a:solidFill>
              </a:rPr>
              <a:t>What goes wrong</a:t>
            </a:r>
            <a:endParaRPr lang="en-US" sz="1100" dirty="0"/>
          </a:p>
        </p:txBody>
      </p:sp>
      <p:sp>
        <p:nvSpPr>
          <p:cNvPr id="25" name="text-197"/>
          <p:cNvSpPr txBox="1"/>
          <p:nvPr/>
        </p:nvSpPr>
        <p:spPr>
          <a:xfrm>
            <a:off x="6300216" y="3063240"/>
            <a:ext cx="2286000" cy="548640"/>
          </a:xfrm>
          <a:prstGeom prst="rect">
            <a:avLst/>
          </a:prstGeom>
          <a:noFill/>
          <a:ln/>
        </p:spPr>
        <p:txBody>
          <a:bodyPr wrap="square" lIns="0" tIns="0" rIns="0" bIns="0" rtlCol="0" anchor="t"/>
          <a:lstStyle/>
          <a:p>
            <a:pPr indent="0" marL="0">
              <a:buNone/>
            </a:pPr>
            <a:r>
              <a:rPr lang="en-US" sz="1200" dirty="0">
                <a:solidFill>
                  <a:schemeClr val="tx1"/>
                </a:solidFill>
              </a:rPr>
              <a:t>Retries on retries in the order transaction</a:t>
            </a:r>
            <a:endParaRPr lang="en-US" sz="1200" dirty="0"/>
          </a:p>
        </p:txBody>
      </p:sp>
      <p:sp>
        <p:nvSpPr>
          <p:cNvPr id="26" name="text-198"/>
          <p:cNvSpPr txBox="1"/>
          <p:nvPr/>
        </p:nvSpPr>
        <p:spPr>
          <a:xfrm>
            <a:off x="6300216" y="3657600"/>
            <a:ext cx="2286000" cy="228600"/>
          </a:xfrm>
          <a:prstGeom prst="rect">
            <a:avLst/>
          </a:prstGeom>
          <a:noFill/>
          <a:ln/>
        </p:spPr>
        <p:txBody>
          <a:bodyPr wrap="square" lIns="0" tIns="0" rIns="0" bIns="0" rtlCol="0" anchor="t"/>
          <a:lstStyle/>
          <a:p>
            <a:pPr indent="0" marL="0">
              <a:buNone/>
            </a:pPr>
            <a:r>
              <a:rPr lang="en-US" sz="1100" b="1" dirty="0">
                <a:solidFill>
                  <a:schemeClr val="accent3"/>
                </a:solidFill>
              </a:rPr>
              <a:t>Decision</a:t>
            </a:r>
            <a:endParaRPr lang="en-US" sz="1100" dirty="0"/>
          </a:p>
        </p:txBody>
      </p:sp>
      <p:sp>
        <p:nvSpPr>
          <p:cNvPr id="27" name="text-199"/>
          <p:cNvSpPr txBox="1"/>
          <p:nvPr/>
        </p:nvSpPr>
        <p:spPr>
          <a:xfrm>
            <a:off x="6300216" y="3886200"/>
            <a:ext cx="2286000" cy="548640"/>
          </a:xfrm>
          <a:prstGeom prst="rect">
            <a:avLst/>
          </a:prstGeom>
          <a:noFill/>
          <a:ln/>
        </p:spPr>
        <p:txBody>
          <a:bodyPr wrap="square" lIns="0" tIns="0" rIns="0" bIns="0" rtlCol="0" anchor="t"/>
          <a:lstStyle/>
          <a:p>
            <a:pPr indent="0" marL="0">
              <a:buNone/>
            </a:pPr>
            <a:r>
              <a:rPr lang="en-US" sz="1200" dirty="0">
                <a:solidFill>
                  <a:schemeClr val="tx1"/>
                </a:solidFill>
              </a:rPr>
              <a:t>SELECT … FOR UPDATE in ID order; one retry layer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Architecture: four specialists, then a challenge</a:t>
            </a:r>
            <a:endParaRPr lang="en-US" sz="3000" dirty="0"/>
          </a:p>
        </p:txBody>
      </p:sp>
      <p:sp>
        <p:nvSpPr>
          <p:cNvPr id="3" name="card-200"/>
          <p:cNvSpPr/>
          <p:nvPr/>
        </p:nvSpPr>
        <p:spPr>
          <a:xfrm>
            <a:off x="457200" y="1188720"/>
            <a:ext cx="2926080" cy="603504"/>
          </a:xfrm>
          <a:prstGeom prst="roundRect">
            <a:avLst>
              <a:gd name="adj" fmla="val 12121"/>
            </a:avLst>
          </a:prstGeom>
          <a:solidFill>
            <a:schemeClr val="bg2"/>
          </a:solidFill>
          <a:ln/>
        </p:spPr>
      </p:sp>
      <p:sp>
        <p:nvSpPr>
          <p:cNvPr id="4" name="text-201"/>
          <p:cNvSpPr txBox="1"/>
          <p:nvPr/>
        </p:nvSpPr>
        <p:spPr>
          <a:xfrm>
            <a:off x="640080" y="1261872"/>
            <a:ext cx="2651760" cy="246888"/>
          </a:xfrm>
          <a:prstGeom prst="rect">
            <a:avLst/>
          </a:prstGeom>
          <a:noFill/>
          <a:ln/>
        </p:spPr>
        <p:txBody>
          <a:bodyPr wrap="square" lIns="0" tIns="0" rIns="0" bIns="0" rtlCol="0" anchor="t"/>
          <a:lstStyle/>
          <a:p>
            <a:pPr indent="0" marL="0">
              <a:buNone/>
            </a:pPr>
            <a:r>
              <a:rPr lang="en-US" sz="1300" b="1" dirty="0">
                <a:solidFill>
                  <a:schemeClr val="tx2"/>
                </a:solidFill>
              </a:rPr>
              <a:t>solution-architect</a:t>
            </a:r>
            <a:endParaRPr lang="en-US" sz="1300" dirty="0"/>
          </a:p>
        </p:txBody>
      </p:sp>
      <p:sp>
        <p:nvSpPr>
          <p:cNvPr id="5" name="text-202"/>
          <p:cNvSpPr txBox="1"/>
          <p:nvPr/>
        </p:nvSpPr>
        <p:spPr>
          <a:xfrm>
            <a:off x="640080" y="1508760"/>
            <a:ext cx="2651760" cy="228600"/>
          </a:xfrm>
          <a:prstGeom prst="rect">
            <a:avLst/>
          </a:prstGeom>
          <a:noFill/>
          <a:ln/>
        </p:spPr>
        <p:txBody>
          <a:bodyPr wrap="square" lIns="0" tIns="0" rIns="0" bIns="0" rtlCol="0" anchor="t"/>
          <a:lstStyle/>
          <a:p>
            <a:pPr indent="0" marL="0">
              <a:buNone/>
            </a:pPr>
            <a:r>
              <a:rPr lang="en-US" sz="1100" dirty="0">
                <a:solidFill>
                  <a:schemeClr val="accent5"/>
                </a:solidFill>
              </a:rPr>
              <a:t>C4 diagrams, request flows</a:t>
            </a:r>
            <a:endParaRPr lang="en-US" sz="1100" dirty="0"/>
          </a:p>
        </p:txBody>
      </p:sp>
      <p:sp>
        <p:nvSpPr>
          <p:cNvPr id="6" name="card-203"/>
          <p:cNvSpPr/>
          <p:nvPr/>
        </p:nvSpPr>
        <p:spPr>
          <a:xfrm>
            <a:off x="457200" y="1901952"/>
            <a:ext cx="2926080" cy="603504"/>
          </a:xfrm>
          <a:prstGeom prst="roundRect">
            <a:avLst>
              <a:gd name="adj" fmla="val 12121"/>
            </a:avLst>
          </a:prstGeom>
          <a:solidFill>
            <a:schemeClr val="bg2"/>
          </a:solidFill>
          <a:ln/>
        </p:spPr>
      </p:sp>
      <p:sp>
        <p:nvSpPr>
          <p:cNvPr id="7" name="text-204"/>
          <p:cNvSpPr txBox="1"/>
          <p:nvPr/>
        </p:nvSpPr>
        <p:spPr>
          <a:xfrm>
            <a:off x="640080" y="1975104"/>
            <a:ext cx="2651760" cy="246888"/>
          </a:xfrm>
          <a:prstGeom prst="rect">
            <a:avLst/>
          </a:prstGeom>
          <a:noFill/>
          <a:ln/>
        </p:spPr>
        <p:txBody>
          <a:bodyPr wrap="square" lIns="0" tIns="0" rIns="0" bIns="0" rtlCol="0" anchor="t"/>
          <a:lstStyle/>
          <a:p>
            <a:pPr indent="0" marL="0">
              <a:buNone/>
            </a:pPr>
            <a:r>
              <a:rPr lang="en-US" sz="1300" b="1" dirty="0">
                <a:solidFill>
                  <a:schemeClr val="tx2"/>
                </a:solidFill>
              </a:rPr>
              <a:t>dotnet-architect</a:t>
            </a:r>
            <a:endParaRPr lang="en-US" sz="1300" dirty="0"/>
          </a:p>
        </p:txBody>
      </p:sp>
      <p:sp>
        <p:nvSpPr>
          <p:cNvPr id="8" name="text-205"/>
          <p:cNvSpPr txBox="1"/>
          <p:nvPr/>
        </p:nvSpPr>
        <p:spPr>
          <a:xfrm>
            <a:off x="640080" y="2221992"/>
            <a:ext cx="2651760" cy="228600"/>
          </a:xfrm>
          <a:prstGeom prst="rect">
            <a:avLst/>
          </a:prstGeom>
          <a:noFill/>
          <a:ln/>
        </p:spPr>
        <p:txBody>
          <a:bodyPr wrap="square" lIns="0" tIns="0" rIns="0" bIns="0" rtlCol="0" anchor="t"/>
          <a:lstStyle/>
          <a:p>
            <a:pPr indent="0" marL="0">
              <a:buNone/>
            </a:pPr>
            <a:r>
              <a:rPr lang="en-US" sz="1100" dirty="0">
                <a:solidFill>
                  <a:schemeClr val="accent5"/>
                </a:solidFill>
              </a:rPr>
              <a:t>Solution structure, ADRs</a:t>
            </a:r>
            <a:endParaRPr lang="en-US" sz="1100" dirty="0"/>
          </a:p>
        </p:txBody>
      </p:sp>
      <p:sp>
        <p:nvSpPr>
          <p:cNvPr id="9" name="card-206"/>
          <p:cNvSpPr/>
          <p:nvPr/>
        </p:nvSpPr>
        <p:spPr>
          <a:xfrm>
            <a:off x="457200" y="2615184"/>
            <a:ext cx="2926080" cy="603504"/>
          </a:xfrm>
          <a:prstGeom prst="roundRect">
            <a:avLst>
              <a:gd name="adj" fmla="val 12121"/>
            </a:avLst>
          </a:prstGeom>
          <a:solidFill>
            <a:schemeClr val="bg2"/>
          </a:solidFill>
          <a:ln/>
        </p:spPr>
      </p:sp>
      <p:sp>
        <p:nvSpPr>
          <p:cNvPr id="10" name="text-207"/>
          <p:cNvSpPr txBox="1"/>
          <p:nvPr/>
        </p:nvSpPr>
        <p:spPr>
          <a:xfrm>
            <a:off x="640080" y="2688336"/>
            <a:ext cx="2651760" cy="246888"/>
          </a:xfrm>
          <a:prstGeom prst="rect">
            <a:avLst/>
          </a:prstGeom>
          <a:noFill/>
          <a:ln/>
        </p:spPr>
        <p:txBody>
          <a:bodyPr wrap="square" lIns="0" tIns="0" rIns="0" bIns="0" rtlCol="0" anchor="t"/>
          <a:lstStyle/>
          <a:p>
            <a:pPr indent="0" marL="0">
              <a:buNone/>
            </a:pPr>
            <a:r>
              <a:rPr lang="en-US" sz="1300" b="1" dirty="0">
                <a:solidFill>
                  <a:schemeClr val="tx2"/>
                </a:solidFill>
              </a:rPr>
              <a:t>dotnet-data-specialist</a:t>
            </a:r>
            <a:endParaRPr lang="en-US" sz="1300" dirty="0"/>
          </a:p>
        </p:txBody>
      </p:sp>
      <p:sp>
        <p:nvSpPr>
          <p:cNvPr id="11" name="text-208"/>
          <p:cNvSpPr txBox="1"/>
          <p:nvPr/>
        </p:nvSpPr>
        <p:spPr>
          <a:xfrm>
            <a:off x="640080" y="2935224"/>
            <a:ext cx="2651760" cy="228600"/>
          </a:xfrm>
          <a:prstGeom prst="rect">
            <a:avLst/>
          </a:prstGeom>
          <a:noFill/>
          <a:ln/>
        </p:spPr>
        <p:txBody>
          <a:bodyPr wrap="square" lIns="0" tIns="0" rIns="0" bIns="0" rtlCol="0" anchor="t"/>
          <a:lstStyle/>
          <a:p>
            <a:pPr indent="0" marL="0">
              <a:buNone/>
            </a:pPr>
            <a:r>
              <a:rPr lang="en-US" sz="1100" dirty="0">
                <a:solidFill>
                  <a:schemeClr val="accent5"/>
                </a:solidFill>
              </a:rPr>
              <a:t>Data model, EF Core + Dapper</a:t>
            </a:r>
            <a:endParaRPr lang="en-US" sz="1100" dirty="0"/>
          </a:p>
        </p:txBody>
      </p:sp>
      <p:sp>
        <p:nvSpPr>
          <p:cNvPr id="12" name="card-209"/>
          <p:cNvSpPr/>
          <p:nvPr/>
        </p:nvSpPr>
        <p:spPr>
          <a:xfrm>
            <a:off x="457200" y="3328416"/>
            <a:ext cx="2926080" cy="603504"/>
          </a:xfrm>
          <a:prstGeom prst="roundRect">
            <a:avLst>
              <a:gd name="adj" fmla="val 12121"/>
            </a:avLst>
          </a:prstGeom>
          <a:solidFill>
            <a:schemeClr val="bg2"/>
          </a:solidFill>
          <a:ln/>
        </p:spPr>
      </p:sp>
      <p:sp>
        <p:nvSpPr>
          <p:cNvPr id="13" name="text-210"/>
          <p:cNvSpPr txBox="1"/>
          <p:nvPr/>
        </p:nvSpPr>
        <p:spPr>
          <a:xfrm>
            <a:off x="640080" y="3401568"/>
            <a:ext cx="2651760" cy="246888"/>
          </a:xfrm>
          <a:prstGeom prst="rect">
            <a:avLst/>
          </a:prstGeom>
          <a:noFill/>
          <a:ln/>
        </p:spPr>
        <p:txBody>
          <a:bodyPr wrap="square" lIns="0" tIns="0" rIns="0" bIns="0" rtlCol="0" anchor="t"/>
          <a:lstStyle/>
          <a:p>
            <a:pPr indent="0" marL="0">
              <a:buNone/>
            </a:pPr>
            <a:r>
              <a:rPr lang="en-US" sz="1300" b="1" dirty="0">
                <a:solidFill>
                  <a:schemeClr val="tx2"/>
                </a:solidFill>
              </a:rPr>
              <a:t>dotnet-api-designer</a:t>
            </a:r>
            <a:endParaRPr lang="en-US" sz="1300" dirty="0"/>
          </a:p>
        </p:txBody>
      </p:sp>
      <p:sp>
        <p:nvSpPr>
          <p:cNvPr id="14" name="text-211"/>
          <p:cNvSpPr txBox="1"/>
          <p:nvPr/>
        </p:nvSpPr>
        <p:spPr>
          <a:xfrm>
            <a:off x="640080" y="3648456"/>
            <a:ext cx="2651760" cy="228600"/>
          </a:xfrm>
          <a:prstGeom prst="rect">
            <a:avLst/>
          </a:prstGeom>
          <a:noFill/>
          <a:ln/>
        </p:spPr>
        <p:txBody>
          <a:bodyPr wrap="square" lIns="0" tIns="0" rIns="0" bIns="0" rtlCol="0" anchor="t"/>
          <a:lstStyle/>
          <a:p>
            <a:pPr indent="0" marL="0">
              <a:buNone/>
            </a:pPr>
            <a:r>
              <a:rPr lang="en-US" sz="1100" dirty="0">
                <a:solidFill>
                  <a:schemeClr val="accent5"/>
                </a:solidFill>
              </a:rPr>
              <a:t>Endpoint catalog, auth, limits</a:t>
            </a:r>
            <a:endParaRPr lang="en-US" sz="1100" dirty="0"/>
          </a:p>
        </p:txBody>
      </p:sp>
      <p:sp>
        <p:nvSpPr>
          <p:cNvPr id="15" name="arrow-212"/>
          <p:cNvSpPr/>
          <p:nvPr/>
        </p:nvSpPr>
        <p:spPr>
          <a:xfrm>
            <a:off x="3474720" y="2514600"/>
            <a:ext cx="365760" cy="0"/>
          </a:xfrm>
          <a:prstGeom prst="line">
            <a:avLst/>
          </a:prstGeom>
          <a:noFill/>
          <a:ln w="19050">
            <a:solidFill>
              <a:srgbClr val="7D7799"/>
            </a:solidFill>
            <a:prstDash val="solid"/>
            <a:tailEnd type="triangle"/>
          </a:ln>
        </p:spPr>
      </p:sp>
      <p:sp>
        <p:nvSpPr>
          <p:cNvPr id="16" name="card-213"/>
          <p:cNvSpPr/>
          <p:nvPr/>
        </p:nvSpPr>
        <p:spPr>
          <a:xfrm>
            <a:off x="3931920" y="1645920"/>
            <a:ext cx="2103120" cy="1737360"/>
          </a:xfrm>
          <a:prstGeom prst="roundRect">
            <a:avLst>
              <a:gd name="adj" fmla="val 4211"/>
            </a:avLst>
          </a:prstGeom>
          <a:solidFill>
            <a:schemeClr val="tx2"/>
          </a:solidFill>
          <a:ln/>
        </p:spPr>
      </p:sp>
      <p:sp>
        <p:nvSpPr>
          <p:cNvPr id="17" name="text-214"/>
          <p:cNvSpPr txBox="1"/>
          <p:nvPr/>
        </p:nvSpPr>
        <p:spPr>
          <a:xfrm>
            <a:off x="4114800" y="1783080"/>
            <a:ext cx="1737360" cy="274320"/>
          </a:xfrm>
          <a:prstGeom prst="rect">
            <a:avLst/>
          </a:prstGeom>
          <a:noFill/>
          <a:ln/>
        </p:spPr>
        <p:txBody>
          <a:bodyPr wrap="square" lIns="0" tIns="0" rIns="0" bIns="0" rtlCol="0" anchor="t"/>
          <a:lstStyle/>
          <a:p>
            <a:pPr indent="0" marL="0">
              <a:buNone/>
            </a:pPr>
            <a:r>
              <a:rPr lang="en-US" sz="1400" b="1" dirty="0">
                <a:solidFill>
                  <a:schemeClr val="bg1"/>
                </a:solidFill>
              </a:rPr>
              <a:t>Main session merges</a:t>
            </a:r>
            <a:endParaRPr lang="en-US" sz="1400" dirty="0"/>
          </a:p>
        </p:txBody>
      </p:sp>
      <p:sp>
        <p:nvSpPr>
          <p:cNvPr id="18" name="text-215"/>
          <p:cNvSpPr txBox="1"/>
          <p:nvPr/>
        </p:nvSpPr>
        <p:spPr>
          <a:xfrm>
            <a:off x="4114800" y="2148840"/>
            <a:ext cx="1737360" cy="1097280"/>
          </a:xfrm>
          <a:prstGeom prst="rect">
            <a:avLst/>
          </a:prstGeom>
          <a:noFill/>
          <a:ln/>
        </p:spPr>
        <p:txBody>
          <a:bodyPr wrap="square" lIns="0" tIns="0" rIns="0" bIns="0" rtlCol="0" anchor="t"/>
          <a:lstStyle/>
          <a:p>
            <a:pPr indent="0" marL="0">
              <a:buNone/>
            </a:pPr>
            <a:r>
              <a:rPr lang="en-US" sz="1200" dirty="0">
                <a:solidFill>
                  <a:schemeClr val="accent6"/>
                </a:solidFill>
              </a:rPr>
              <a:t>Fixed clashes between parallel agents: DB role names, Valkey timeouts, middleware order</a:t>
            </a:r>
            <a:endParaRPr lang="en-US" sz="1200" dirty="0"/>
          </a:p>
        </p:txBody>
      </p:sp>
      <p:sp>
        <p:nvSpPr>
          <p:cNvPr id="19" name="arrow-216"/>
          <p:cNvSpPr/>
          <p:nvPr/>
        </p:nvSpPr>
        <p:spPr>
          <a:xfrm>
            <a:off x="6126480" y="2514600"/>
            <a:ext cx="365760" cy="0"/>
          </a:xfrm>
          <a:prstGeom prst="line">
            <a:avLst/>
          </a:prstGeom>
          <a:noFill/>
          <a:ln w="19050">
            <a:solidFill>
              <a:srgbClr val="7D7799"/>
            </a:solidFill>
            <a:prstDash val="solid"/>
            <a:tailEnd type="triangle"/>
          </a:ln>
        </p:spPr>
      </p:sp>
      <p:sp>
        <p:nvSpPr>
          <p:cNvPr id="20" name="card-217"/>
          <p:cNvSpPr/>
          <p:nvPr/>
        </p:nvSpPr>
        <p:spPr>
          <a:xfrm>
            <a:off x="6583680" y="1645920"/>
            <a:ext cx="2103120" cy="1737360"/>
          </a:xfrm>
          <a:prstGeom prst="roundRect">
            <a:avLst>
              <a:gd name="adj" fmla="val 4211"/>
            </a:avLst>
          </a:prstGeom>
          <a:solidFill>
            <a:schemeClr val="accent1"/>
          </a:solidFill>
          <a:ln/>
        </p:spPr>
      </p:sp>
      <p:sp>
        <p:nvSpPr>
          <p:cNvPr id="21" name="text-218"/>
          <p:cNvSpPr txBox="1"/>
          <p:nvPr/>
        </p:nvSpPr>
        <p:spPr>
          <a:xfrm>
            <a:off x="6766560" y="1783080"/>
            <a:ext cx="1783080" cy="274320"/>
          </a:xfrm>
          <a:prstGeom prst="rect">
            <a:avLst/>
          </a:prstGeom>
          <a:noFill/>
          <a:ln/>
        </p:spPr>
        <p:txBody>
          <a:bodyPr wrap="square" lIns="0" tIns="0" rIns="0" bIns="0" rtlCol="0" anchor="t"/>
          <a:lstStyle/>
          <a:p>
            <a:pPr indent="0" marL="0">
              <a:buNone/>
            </a:pPr>
            <a:r>
              <a:rPr lang="en-US" sz="1400" b="1" dirty="0">
                <a:solidFill>
                  <a:schemeClr val="bg1"/>
                </a:solidFill>
              </a:rPr>
              <a:t>devils-advocate review</a:t>
            </a:r>
            <a:endParaRPr lang="en-US" sz="1400" dirty="0"/>
          </a:p>
        </p:txBody>
      </p:sp>
      <p:sp>
        <p:nvSpPr>
          <p:cNvPr id="22" name="text-219"/>
          <p:cNvSpPr txBox="1"/>
          <p:nvPr/>
        </p:nvSpPr>
        <p:spPr>
          <a:xfrm>
            <a:off x="6766560" y="2148840"/>
            <a:ext cx="1783080" cy="1097280"/>
          </a:xfrm>
          <a:prstGeom prst="rect">
            <a:avLst/>
          </a:prstGeom>
          <a:noFill/>
          <a:ln/>
        </p:spPr>
        <p:txBody>
          <a:bodyPr wrap="square" lIns="0" tIns="0" rIns="0" bIns="0" rtlCol="0" anchor="t"/>
          <a:lstStyle/>
          <a:p>
            <a:pPr indent="0" marL="0">
              <a:buNone/>
            </a:pPr>
            <a:r>
              <a:rPr lang="en-US" sz="1200" dirty="0">
                <a:solidFill>
                  <a:schemeClr val="bg1"/>
                </a:solidFill>
              </a:rPr>
              <a:t>Verdict: go with changes (R‑1 to R‑5), e.g. split S1 into a walking skeleton and auth</a:t>
            </a:r>
            <a:endParaRPr lang="en-US" sz="1200" dirty="0"/>
          </a:p>
        </p:txBody>
      </p:sp>
      <p:sp>
        <p:nvSpPr>
          <p:cNvPr id="23" name="text-220"/>
          <p:cNvSpPr txBox="1"/>
          <p:nvPr/>
        </p:nvSpPr>
        <p:spPr>
          <a:xfrm>
            <a:off x="457200" y="4114800"/>
            <a:ext cx="2651760" cy="411480"/>
          </a:xfrm>
          <a:prstGeom prst="rect">
            <a:avLst/>
          </a:prstGeom>
          <a:noFill/>
          <a:ln/>
        </p:spPr>
        <p:txBody>
          <a:bodyPr wrap="square" lIns="0" tIns="0" rIns="0" bIns="0" rtlCol="0" anchor="ctr"/>
          <a:lstStyle/>
          <a:p>
            <a:pPr indent="0" marL="0">
              <a:buNone/>
            </a:pPr>
            <a:r>
              <a:rPr lang="en-US" sz="2400" b="1" dirty="0">
                <a:solidFill>
                  <a:schemeClr val="accent1"/>
                </a:solidFill>
              </a:rPr>
              <a:t>14  </a:t>
            </a:r>
            <a:pPr indent="0" marL="0">
              <a:buNone/>
            </a:pPr>
            <a:r>
              <a:rPr lang="en-US" sz="1300" dirty="0">
                <a:solidFill>
                  <a:schemeClr val="tx1"/>
                </a:solidFill>
              </a:rPr>
              <a:t>ADRs (0001-0014)</a:t>
            </a:r>
            <a:endParaRPr lang="en-US" sz="1400" dirty="0"/>
          </a:p>
        </p:txBody>
      </p:sp>
      <p:sp>
        <p:nvSpPr>
          <p:cNvPr id="24" name="text-221"/>
          <p:cNvSpPr txBox="1"/>
          <p:nvPr/>
        </p:nvSpPr>
        <p:spPr>
          <a:xfrm>
            <a:off x="3200400" y="4114800"/>
            <a:ext cx="2651760" cy="411480"/>
          </a:xfrm>
          <a:prstGeom prst="rect">
            <a:avLst/>
          </a:prstGeom>
          <a:noFill/>
          <a:ln/>
        </p:spPr>
        <p:txBody>
          <a:bodyPr wrap="square" lIns="0" tIns="0" rIns="0" bIns="0" rtlCol="0" anchor="ctr"/>
          <a:lstStyle/>
          <a:p>
            <a:pPr indent="0" marL="0">
              <a:buNone/>
            </a:pPr>
            <a:r>
              <a:rPr lang="en-US" sz="2400" b="1" dirty="0">
                <a:solidFill>
                  <a:schemeClr val="accent1"/>
                </a:solidFill>
              </a:rPr>
              <a:t>17  </a:t>
            </a:r>
            <a:pPr indent="0" marL="0">
              <a:buNone/>
            </a:pPr>
            <a:r>
              <a:rPr lang="en-US" sz="1300" dirty="0">
                <a:solidFill>
                  <a:schemeClr val="tx1"/>
                </a:solidFill>
              </a:rPr>
              <a:t>architecture decisions</a:t>
            </a:r>
            <a:endParaRPr lang="en-US" sz="1400" dirty="0"/>
          </a:p>
        </p:txBody>
      </p:sp>
      <p:sp>
        <p:nvSpPr>
          <p:cNvPr id="25" name="text-222"/>
          <p:cNvSpPr txBox="1"/>
          <p:nvPr/>
        </p:nvSpPr>
        <p:spPr>
          <a:xfrm>
            <a:off x="5943600" y="4114800"/>
            <a:ext cx="2651760" cy="411480"/>
          </a:xfrm>
          <a:prstGeom prst="rect">
            <a:avLst/>
          </a:prstGeom>
          <a:noFill/>
          <a:ln/>
        </p:spPr>
        <p:txBody>
          <a:bodyPr wrap="square" lIns="0" tIns="0" rIns="0" bIns="0" rtlCol="0" anchor="ctr"/>
          <a:lstStyle/>
          <a:p>
            <a:pPr indent="0" marL="0">
              <a:buNone/>
            </a:pPr>
            <a:r>
              <a:rPr lang="en-US" sz="2400" b="1" dirty="0">
                <a:solidFill>
                  <a:schemeClr val="accent1"/>
                </a:solidFill>
              </a:rPr>
              <a:t>5  </a:t>
            </a:r>
            <a:pPr indent="0" marL="0">
              <a:buNone/>
            </a:pPr>
            <a:r>
              <a:rPr lang="en-US" sz="1300" dirty="0">
                <a:solidFill>
                  <a:schemeClr val="tx1"/>
                </a:solidFill>
              </a:rPr>
              <a:t>review changes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Security and testing were planned, not bolted on</a:t>
            </a:r>
            <a:endParaRPr lang="en-US" sz="3000" dirty="0"/>
          </a:p>
        </p:txBody>
      </p:sp>
      <p:sp>
        <p:nvSpPr>
          <p:cNvPr id="3" name="card-223"/>
          <p:cNvSpPr/>
          <p:nvPr/>
        </p:nvSpPr>
        <p:spPr>
          <a:xfrm>
            <a:off x="457200" y="1188720"/>
            <a:ext cx="4023360" cy="3383280"/>
          </a:xfrm>
          <a:prstGeom prst="roundRect">
            <a:avLst>
              <a:gd name="adj" fmla="val 2162"/>
            </a:avLst>
          </a:prstGeom>
          <a:solidFill>
            <a:schemeClr val="bg2"/>
          </a:solidFill>
          <a:ln/>
        </p:spPr>
      </p:sp>
      <p:sp>
        <p:nvSpPr>
          <p:cNvPr id="4" name="icon-circle-224"/>
          <p:cNvSpPr/>
          <p:nvPr/>
        </p:nvSpPr>
        <p:spPr>
          <a:xfrm>
            <a:off x="685800" y="1371600"/>
            <a:ext cx="457200" cy="457200"/>
          </a:xfrm>
          <a:prstGeom prst="ellipse">
            <a:avLst/>
          </a:prstGeom>
          <a:solidFill>
            <a:schemeClr val="accent4"/>
          </a:solidFill>
          <a:ln/>
        </p:spPr>
      </p:sp>
      <p:pic>
        <p:nvPicPr>
          <p:cNvPr id="5" name="icon-225" descr="icon">    </p:cNvPr>
          <p:cNvPicPr>
            <a:picLocks noChangeAspect="1"/>
          </p:cNvPicPr>
          <p:nvPr/>
        </p:nvPicPr>
        <p:blipFill>
          <a:blip r:embed="rId1"/>
          <a:stretch>
            <a:fillRect/>
          </a:stretch>
        </p:blipFill>
        <p:spPr>
          <a:xfrm>
            <a:off x="804672" y="1490472"/>
            <a:ext cx="219456" cy="219456"/>
          </a:xfrm>
          <a:prstGeom prst="rect">
            <a:avLst/>
          </a:prstGeom>
        </p:spPr>
      </p:pic>
      <p:sp>
        <p:nvSpPr>
          <p:cNvPr id="6" name="text-226"/>
          <p:cNvSpPr txBox="1"/>
          <p:nvPr/>
        </p:nvSpPr>
        <p:spPr>
          <a:xfrm>
            <a:off x="1280160" y="1353312"/>
            <a:ext cx="3017520" cy="274320"/>
          </a:xfrm>
          <a:prstGeom prst="rect">
            <a:avLst/>
          </a:prstGeom>
          <a:noFill/>
          <a:ln/>
        </p:spPr>
        <p:txBody>
          <a:bodyPr wrap="square" lIns="0" tIns="0" rIns="0" bIns="0" rtlCol="0" anchor="t"/>
          <a:lstStyle/>
          <a:p>
            <a:pPr indent="0" marL="0">
              <a:buNone/>
            </a:pPr>
            <a:r>
              <a:rPr lang="en-US" sz="1500" b="1" dirty="0">
                <a:solidFill>
                  <a:schemeClr val="tx2"/>
                </a:solidFill>
              </a:rPr>
              <a:t>STRIDE threat model</a:t>
            </a:r>
            <a:endParaRPr lang="en-US" sz="1500" dirty="0"/>
          </a:p>
        </p:txBody>
      </p:sp>
      <p:sp>
        <p:nvSpPr>
          <p:cNvPr id="7" name="text-227"/>
          <p:cNvSpPr txBox="1"/>
          <p:nvPr/>
        </p:nvSpPr>
        <p:spPr>
          <a:xfrm>
            <a:off x="1280160" y="1627632"/>
            <a:ext cx="3108960" cy="228600"/>
          </a:xfrm>
          <a:prstGeom prst="rect">
            <a:avLst/>
          </a:prstGeom>
          <a:noFill/>
          <a:ln/>
        </p:spPr>
        <p:txBody>
          <a:bodyPr wrap="square" lIns="0" tIns="0" rIns="0" bIns="0" rtlCol="0" anchor="t"/>
          <a:lstStyle/>
          <a:p>
            <a:pPr indent="0" marL="0">
              <a:buNone/>
            </a:pPr>
            <a:r>
              <a:rPr lang="en-US" sz="1100" dirty="0">
                <a:solidFill>
                  <a:schemeClr val="accent5"/>
                </a:solidFill>
              </a:rPr>
              <a:t>security-privacy-reviewer  →  S-D1 to S-D8</a:t>
            </a:r>
            <a:endParaRPr lang="en-US" sz="1100" dirty="0"/>
          </a:p>
        </p:txBody>
      </p:sp>
      <p:sp>
        <p:nvSpPr>
          <p:cNvPr id="8" name="text-228"/>
          <p:cNvSpPr txBox="1"/>
          <p:nvPr/>
        </p:nvSpPr>
        <p:spPr>
          <a:xfrm>
            <a:off x="685800" y="2057400"/>
            <a:ext cx="361188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Security-stamp check on every request</a:t>
            </a:r>
            <a:endParaRPr lang="en-US" sz="1400" dirty="0"/>
          </a:p>
          <a:p>
            <a:pPr marL="177800" indent="-177800">
              <a:spcAft>
                <a:spcPts val="600"/>
              </a:spcAft>
              <a:buSzPct val="100000"/>
              <a:buChar char="•"/>
            </a:pPr>
            <a:r>
              <a:rPr lang="en-US" sz="1300" dirty="0">
                <a:solidFill>
                  <a:schemeClr val="tx1"/>
                </a:solidFill>
              </a:rPr>
              <a:t>Same work and time floor on login and register, so accounts can’t be guessed</a:t>
            </a:r>
            <a:endParaRPr lang="en-US" sz="1400" dirty="0"/>
          </a:p>
          <a:p>
            <a:pPr marL="177800" indent="-177800">
              <a:spcAft>
                <a:spcPts val="600"/>
              </a:spcAft>
              <a:buSzPct val="100000"/>
              <a:buChar char="•"/>
            </a:pPr>
            <a:r>
              <a:rPr lang="en-US" sz="1300" dirty="0">
                <a:solidFill>
                  <a:schemeClr val="tx1"/>
                </a:solidFill>
              </a:rPr>
              <a:t>Compose on localhost only; Valkey needs a password</a:t>
            </a:r>
            <a:endParaRPr lang="en-US" sz="1400" dirty="0"/>
          </a:p>
          <a:p>
            <a:pPr marL="177800" indent="-177800">
              <a:spcAft>
                <a:spcPts val="600"/>
              </a:spcAft>
              <a:buSzPct val="100000"/>
              <a:buChar char="•"/>
            </a:pPr>
            <a:r>
              <a:rPr lang="en-US" sz="1300" dirty="0">
                <a:solidFill>
                  <a:schemeClr val="tx1"/>
                </a:solidFill>
              </a:rPr>
              <a:t>Supply-chain gates and Renovate in CI</a:t>
            </a:r>
            <a:endParaRPr lang="en-US" sz="1400" dirty="0"/>
          </a:p>
        </p:txBody>
      </p:sp>
      <p:sp>
        <p:nvSpPr>
          <p:cNvPr id="9" name="text-229"/>
          <p:cNvSpPr txBox="1"/>
          <p:nvPr/>
        </p:nvSpPr>
        <p:spPr>
          <a:xfrm>
            <a:off x="4846320" y="1188720"/>
            <a:ext cx="3840480" cy="274320"/>
          </a:xfrm>
          <a:prstGeom prst="rect">
            <a:avLst/>
          </a:prstGeom>
          <a:noFill/>
          <a:ln/>
        </p:spPr>
        <p:txBody>
          <a:bodyPr wrap="square" lIns="0" tIns="0" rIns="0" bIns="0" rtlCol="0" anchor="t"/>
          <a:lstStyle/>
          <a:p>
            <a:pPr indent="0" marL="0">
              <a:buNone/>
            </a:pPr>
            <a:r>
              <a:rPr lang="en-US" sz="1500" b="1" dirty="0">
                <a:solidFill>
                  <a:schemeClr val="tx2"/>
                </a:solidFill>
              </a:rPr>
              <a:t>Test pyramid (planned counts)</a:t>
            </a:r>
            <a:endParaRPr lang="en-US" sz="1500" dirty="0"/>
          </a:p>
        </p:txBody>
      </p:sp>
      <p:sp>
        <p:nvSpPr>
          <p:cNvPr id="10" name="text-230"/>
          <p:cNvSpPr txBox="1"/>
          <p:nvPr/>
        </p:nvSpPr>
        <p:spPr>
          <a:xfrm>
            <a:off x="4846320" y="1463040"/>
            <a:ext cx="3840480" cy="228600"/>
          </a:xfrm>
          <a:prstGeom prst="rect">
            <a:avLst/>
          </a:prstGeom>
          <a:noFill/>
          <a:ln/>
        </p:spPr>
        <p:txBody>
          <a:bodyPr wrap="square" lIns="0" tIns="0" rIns="0" bIns="0" rtlCol="0" anchor="t"/>
          <a:lstStyle/>
          <a:p>
            <a:pPr indent="0" marL="0">
              <a:buNone/>
            </a:pPr>
            <a:r>
              <a:rPr lang="en-US" sz="1100" dirty="0">
                <a:solidFill>
                  <a:schemeClr val="accent5"/>
                </a:solidFill>
              </a:rPr>
              <a:t>qa-strategist  →  Q-D1 to Q-D6</a:t>
            </a:r>
            <a:endParaRPr lang="en-US" sz="1100" dirty="0"/>
          </a:p>
        </p:txBody>
      </p:sp>
      <p:graphicFrame>
        <p:nvGraphicFramePr>
          <p:cNvPr id="11" name="Chart 0" descr=""/>
          <p:cNvGraphicFramePr/>
          <p:nvPr/>
        </p:nvGraphicFramePr>
        <p:xfrm>
          <a:off x="4754880" y="1737360"/>
          <a:ext cx="3931920" cy="2148840"/>
        </p:xfrm>
        <a:graphic xmlns:a="http://schemas.openxmlformats.org/drawingml/2006/main">
          <a:graphicData uri="http://schemas.openxmlformats.org/drawingml/2006/chart">
            <c:chart xmlns:c="http://schemas.openxmlformats.org/drawingml/2006/chart" r:id="rId2"/>
          </a:graphicData>
        </a:graphic>
      </p:graphicFrame>
      <p:sp>
        <p:nvSpPr>
          <p:cNvPr id="12" name="text-231"/>
          <p:cNvSpPr txBox="1"/>
          <p:nvPr/>
        </p:nvSpPr>
        <p:spPr>
          <a:xfrm>
            <a:off x="4846320" y="4023360"/>
            <a:ext cx="3840480" cy="502920"/>
          </a:xfrm>
          <a:prstGeom prst="rect">
            <a:avLst/>
          </a:prstGeom>
          <a:noFill/>
          <a:ln/>
        </p:spPr>
        <p:txBody>
          <a:bodyPr wrap="square" lIns="0" tIns="0" rIns="0" bIns="0" rtlCol="0" anchor="t"/>
          <a:lstStyle/>
          <a:p>
            <a:pPr indent="0" marL="0">
              <a:buNone/>
            </a:pPr>
            <a:r>
              <a:rPr lang="en-US" sz="1200" dirty="0">
                <a:solidFill>
                  <a:schemeClr val="tx1"/>
                </a:solidFill>
              </a:rPr>
              <a:t>No automatic retries in CI. Whole suite must run in 5 minutes or less.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Thin slices with hard time-boxes</a:t>
            </a:r>
            <a:endParaRPr lang="en-US" sz="3000" dirty="0"/>
          </a:p>
        </p:txBody>
      </p:sp>
      <p:graphicFrame>
        <p:nvGraphicFramePr>
          <p:cNvPr id="3" name="Chart 0" descr=""/>
          <p:cNvGraphicFramePr/>
          <p:nvPr/>
        </p:nvGraphicFramePr>
        <p:xfrm>
          <a:off x="365760" y="1097280"/>
          <a:ext cx="4572000" cy="3474720"/>
        </p:xfrm>
        <a:graphic xmlns:a="http://schemas.openxmlformats.org/drawingml/2006/main">
          <a:graphicData uri="http://schemas.openxmlformats.org/drawingml/2006/chart">
            <c:chart xmlns:c="http://schemas.openxmlformats.org/drawingml/2006/chart" r:id="rId1"/>
          </a:graphicData>
        </a:graphic>
      </p:graphicFrame>
      <p:sp>
        <p:nvSpPr>
          <p:cNvPr id="4" name="text-232"/>
          <p:cNvSpPr txBox="1"/>
          <p:nvPr/>
        </p:nvSpPr>
        <p:spPr>
          <a:xfrm>
            <a:off x="5212080" y="1188720"/>
            <a:ext cx="347472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chemeClr val="tx1"/>
                </a:solidFill>
              </a:rPr>
              <a:t>delivery-planner: </a:t>
            </a:r>
            <a:pPr indent="0" marL="0">
              <a:buNone/>
            </a:pPr>
            <a:r>
              <a:rPr lang="en-US" sz="1300" dirty="0">
                <a:solidFill>
                  <a:schemeClr val="tx1"/>
                </a:solidFill>
              </a:rPr>
              <a:t>Kanban, WIP 1, one story per PR, an Epic per slice</a:t>
            </a:r>
            <a:endParaRPr lang="en-US" sz="1400" dirty="0"/>
          </a:p>
          <a:p>
            <a:pPr marL="177800" indent="-177800">
              <a:spcAft>
                <a:spcPts val="600"/>
              </a:spcAft>
              <a:buSzPct val="100000"/>
              <a:buChar char="•"/>
            </a:pPr>
            <a:r>
              <a:rPr lang="en-US" sz="1300" b="1" dirty="0">
                <a:solidFill>
                  <a:schemeClr val="tx1"/>
                </a:solidFill>
              </a:rPr>
              <a:t>168 work items </a:t>
            </a:r>
            <a:pPr indent="0" marL="0">
              <a:buNone/>
            </a:pPr>
            <a:r>
              <a:rPr lang="en-US" sz="1300" dirty="0">
                <a:solidFill>
                  <a:schemeClr val="tx1"/>
                </a:solidFill>
              </a:rPr>
              <a:t>with 160 parent and 31 dependency links</a:t>
            </a:r>
            <a:endParaRPr lang="en-US" sz="1400" dirty="0"/>
          </a:p>
          <a:p>
            <a:pPr marL="177800" indent="-177800">
              <a:spcAft>
                <a:spcPts val="600"/>
              </a:spcAft>
              <a:buSzPct val="100000"/>
              <a:buChar char="•"/>
            </a:pPr>
            <a:r>
              <a:rPr lang="en-US" sz="1300" b="1" dirty="0">
                <a:solidFill>
                  <a:schemeClr val="tx1"/>
                </a:solidFill>
              </a:rPr>
              <a:t>Preview, then apply: </a:t>
            </a:r>
            <a:pPr indent="0" marL="0">
              <a:buNone/>
            </a:pPr>
            <a:r>
              <a:rPr lang="en-US" sz="1300" dirty="0">
                <a:solidFill>
                  <a:schemeClr val="tx1"/>
                </a:solidFill>
              </a:rPr>
              <a:t>azdo-boards-manager showed every item before anything was created</a:t>
            </a:r>
            <a:endParaRPr lang="en-US" sz="1400" dirty="0"/>
          </a:p>
          <a:p>
            <a:pPr marL="177800" indent="-177800">
              <a:spcAft>
                <a:spcPts val="600"/>
              </a:spcAft>
              <a:buSzPct val="100000"/>
              <a:buChar char="•"/>
            </a:pPr>
            <a:r>
              <a:rPr lang="en-US" sz="1300" b="1" dirty="0">
                <a:solidFill>
                  <a:schemeClr val="tx1"/>
                </a:solidFill>
              </a:rPr>
              <a:t>Commits reference </a:t>
            </a:r>
            <a:pPr indent="0" marL="0">
              <a:buNone/>
            </a:pPr>
            <a:r>
              <a:rPr lang="en-US" sz="1300" dirty="0">
                <a:solidFill>
                  <a:schemeClr val="tx1"/>
                </a:solidFill>
              </a:rPr>
              <a:t>AB#&lt;id&gt; so code links back to the board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Every decision has an ID and a home</a:t>
            </a:r>
            <a:endParaRPr lang="en-US" sz="3000" dirty="0"/>
          </a:p>
        </p:txBody>
      </p:sp>
      <p:graphicFrame>
        <p:nvGraphicFramePr>
          <p:cNvPr id="3" name="Chart 0" descr=""/>
          <p:cNvGraphicFramePr/>
          <p:nvPr/>
        </p:nvGraphicFramePr>
        <p:xfrm>
          <a:off x="36576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233"/>
          <p:cNvSpPr txBox="1"/>
          <p:nvPr/>
        </p:nvSpPr>
        <p:spPr>
          <a:xfrm>
            <a:off x="5852160" y="1188720"/>
            <a:ext cx="2834640" cy="822960"/>
          </a:xfrm>
          <a:prstGeom prst="rect">
            <a:avLst/>
          </a:prstGeom>
          <a:noFill/>
          <a:ln/>
        </p:spPr>
        <p:txBody>
          <a:bodyPr wrap="square" lIns="0" tIns="0" rIns="0" bIns="0" rtlCol="0" anchor="b"/>
          <a:lstStyle/>
          <a:p>
            <a:pPr indent="0" marL="0">
              <a:buNone/>
            </a:pPr>
            <a:r>
              <a:rPr lang="en-US" sz="6000" b="1" dirty="0">
                <a:solidFill>
                  <a:schemeClr val="accent1"/>
                </a:solidFill>
              </a:rPr>
              <a:t>68</a:t>
            </a:r>
            <a:endParaRPr lang="en-US" sz="6000" dirty="0"/>
          </a:p>
        </p:txBody>
      </p:sp>
      <p:sp>
        <p:nvSpPr>
          <p:cNvPr id="5" name="text-234"/>
          <p:cNvSpPr txBox="1"/>
          <p:nvPr/>
        </p:nvSpPr>
        <p:spPr>
          <a:xfrm>
            <a:off x="5852160" y="2057400"/>
            <a:ext cx="2834640" cy="502920"/>
          </a:xfrm>
          <a:prstGeom prst="rect">
            <a:avLst/>
          </a:prstGeom>
          <a:noFill/>
          <a:ln/>
        </p:spPr>
        <p:txBody>
          <a:bodyPr wrap="square" lIns="0" tIns="0" rIns="0" bIns="0" rtlCol="0" anchor="t"/>
          <a:lstStyle/>
          <a:p>
            <a:pPr indent="0" marL="0">
              <a:buNone/>
            </a:pPr>
            <a:r>
              <a:rPr lang="en-US" sz="1300" dirty="0">
                <a:solidFill>
                  <a:schemeClr val="tx1"/>
                </a:solidFill>
              </a:rPr>
              <a:t>decisions, each with a date, a reason and a link</a:t>
            </a:r>
            <a:endParaRPr lang="en-US" sz="1300" dirty="0"/>
          </a:p>
        </p:txBody>
      </p:sp>
      <p:sp>
        <p:nvSpPr>
          <p:cNvPr id="6" name="text-235"/>
          <p:cNvSpPr txBox="1"/>
          <p:nvPr/>
        </p:nvSpPr>
        <p:spPr>
          <a:xfrm>
            <a:off x="5852160" y="2743200"/>
            <a:ext cx="283464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00-summary.md is the single log</a:t>
            </a:r>
            <a:endParaRPr lang="en-US" sz="1400" dirty="0"/>
          </a:p>
          <a:p>
            <a:pPr marL="177800" indent="-177800">
              <a:spcAft>
                <a:spcPts val="600"/>
              </a:spcAft>
              <a:buSzPct val="100000"/>
              <a:buChar char="•"/>
            </a:pPr>
            <a:r>
              <a:rPr lang="en-US" sz="1300" dirty="0">
                <a:solidFill>
                  <a:schemeClr val="tx1"/>
                </a:solidFill>
              </a:rPr>
              <a:t>ADRs explain the why</a:t>
            </a:r>
            <a:endParaRPr lang="en-US" sz="1400" dirty="0"/>
          </a:p>
          <a:p>
            <a:pPr marL="177800" indent="-177800">
              <a:spcAft>
                <a:spcPts val="600"/>
              </a:spcAft>
              <a:buSzPct val="100000"/>
              <a:buChar char="•"/>
            </a:pPr>
            <a:r>
              <a:rPr lang="en-US" sz="1300" dirty="0">
                <a:solidFill>
                  <a:schemeClr val="tx1"/>
                </a:solidFill>
              </a:rPr>
              <a:t>CLAUDE.md: when code and docs disagree, raise it; never change a decision silently</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A team of agents turned the plan into code</a:t>
            </a:r>
            <a:endParaRPr lang="en-US" sz="3000" dirty="0"/>
          </a:p>
        </p:txBody>
      </p:sp>
      <p:sp>
        <p:nvSpPr>
          <p:cNvPr id="3" name="card-236"/>
          <p:cNvSpPr/>
          <p:nvPr/>
        </p:nvSpPr>
        <p:spPr>
          <a:xfrm>
            <a:off x="457200" y="1188720"/>
            <a:ext cx="4023360" cy="1554480"/>
          </a:xfrm>
          <a:prstGeom prst="roundRect">
            <a:avLst>
              <a:gd name="adj" fmla="val 4706"/>
            </a:avLst>
          </a:prstGeom>
          <a:solidFill>
            <a:schemeClr val="bg2"/>
          </a:solidFill>
          <a:ln/>
        </p:spPr>
      </p:sp>
      <p:sp>
        <p:nvSpPr>
          <p:cNvPr id="4" name="icon-circle-237"/>
          <p:cNvSpPr/>
          <p:nvPr/>
        </p:nvSpPr>
        <p:spPr>
          <a:xfrm>
            <a:off x="685800" y="1417320"/>
            <a:ext cx="502920" cy="502920"/>
          </a:xfrm>
          <a:prstGeom prst="ellipse">
            <a:avLst/>
          </a:prstGeom>
          <a:solidFill>
            <a:schemeClr val="accent3"/>
          </a:solidFill>
          <a:ln/>
        </p:spPr>
      </p:sp>
      <p:pic>
        <p:nvPicPr>
          <p:cNvPr id="5" name="icon-238" descr="icon">    </p:cNvPr>
          <p:cNvPicPr>
            <a:picLocks noChangeAspect="1"/>
          </p:cNvPicPr>
          <p:nvPr/>
        </p:nvPicPr>
        <p:blipFill>
          <a:blip r:embed="rId1"/>
          <a:stretch>
            <a:fillRect/>
          </a:stretch>
        </p:blipFill>
        <p:spPr>
          <a:xfrm>
            <a:off x="816559" y="1548079"/>
            <a:ext cx="241402" cy="241402"/>
          </a:xfrm>
          <a:prstGeom prst="rect">
            <a:avLst/>
          </a:prstGeom>
        </p:spPr>
      </p:pic>
      <p:sp>
        <p:nvSpPr>
          <p:cNvPr id="6" name="text-239"/>
          <p:cNvSpPr txBox="1"/>
          <p:nvPr/>
        </p:nvSpPr>
        <p:spPr>
          <a:xfrm>
            <a:off x="1325880" y="1463040"/>
            <a:ext cx="3017520" cy="411480"/>
          </a:xfrm>
          <a:prstGeom prst="rect">
            <a:avLst/>
          </a:prstGeom>
          <a:noFill/>
          <a:ln/>
        </p:spPr>
        <p:txBody>
          <a:bodyPr wrap="square" lIns="0" tIns="0" rIns="0" bIns="0" rtlCol="0" anchor="ctr"/>
          <a:lstStyle/>
          <a:p>
            <a:pPr indent="0" marL="0">
              <a:buNone/>
            </a:pPr>
            <a:r>
              <a:rPr lang="en-US" sz="1500" b="1" dirty="0">
                <a:solidFill>
                  <a:schemeClr val="tx2"/>
                </a:solidFill>
              </a:rPr>
              <a:t>dotnet-api-designer</a:t>
            </a:r>
            <a:endParaRPr lang="en-US" sz="1500" dirty="0"/>
          </a:p>
        </p:txBody>
      </p:sp>
      <p:sp>
        <p:nvSpPr>
          <p:cNvPr id="7" name="text-240"/>
          <p:cNvSpPr txBox="1"/>
          <p:nvPr/>
        </p:nvSpPr>
        <p:spPr>
          <a:xfrm>
            <a:off x="685800" y="2029968"/>
            <a:ext cx="3611880" cy="640080"/>
          </a:xfrm>
          <a:prstGeom prst="rect">
            <a:avLst/>
          </a:prstGeom>
          <a:noFill/>
          <a:ln/>
        </p:spPr>
        <p:txBody>
          <a:bodyPr wrap="square" lIns="0" tIns="0" rIns="0" bIns="0" rtlCol="0" anchor="t"/>
          <a:lstStyle/>
          <a:p>
            <a:pPr indent="0" marL="0">
              <a:buNone/>
            </a:pPr>
            <a:r>
              <a:rPr lang="en-US" sz="1200" dirty="0">
                <a:solidFill>
                  <a:schemeClr val="tx1"/>
                </a:solidFill>
              </a:rPr>
              <a:t>51 endpoints in feature folders (Auth, Products, Customers, Orders, Reports, AdminUsers). Release build with 0 warnings.</a:t>
            </a:r>
            <a:endParaRPr lang="en-US" sz="1200" dirty="0"/>
          </a:p>
        </p:txBody>
      </p:sp>
      <p:sp>
        <p:nvSpPr>
          <p:cNvPr id="8" name="card-241"/>
          <p:cNvSpPr/>
          <p:nvPr/>
        </p:nvSpPr>
        <p:spPr>
          <a:xfrm>
            <a:off x="4663440" y="1188720"/>
            <a:ext cx="4023360" cy="1554480"/>
          </a:xfrm>
          <a:prstGeom prst="roundRect">
            <a:avLst>
              <a:gd name="adj" fmla="val 4706"/>
            </a:avLst>
          </a:prstGeom>
          <a:solidFill>
            <a:schemeClr val="bg2"/>
          </a:solidFill>
          <a:ln/>
        </p:spPr>
      </p:sp>
      <p:sp>
        <p:nvSpPr>
          <p:cNvPr id="9" name="icon-circle-242"/>
          <p:cNvSpPr/>
          <p:nvPr/>
        </p:nvSpPr>
        <p:spPr>
          <a:xfrm>
            <a:off x="4892040" y="1417320"/>
            <a:ext cx="502920" cy="502920"/>
          </a:xfrm>
          <a:prstGeom prst="ellipse">
            <a:avLst/>
          </a:prstGeom>
          <a:solidFill>
            <a:schemeClr val="accent3"/>
          </a:solidFill>
          <a:ln/>
        </p:spPr>
      </p:sp>
      <p:pic>
        <p:nvPicPr>
          <p:cNvPr id="10" name="icon-243" descr="icon">    </p:cNvPr>
          <p:cNvPicPr>
            <a:picLocks noChangeAspect="1"/>
          </p:cNvPicPr>
          <p:nvPr/>
        </p:nvPicPr>
        <p:blipFill>
          <a:blip r:embed="rId2"/>
          <a:stretch>
            <a:fillRect/>
          </a:stretch>
        </p:blipFill>
        <p:spPr>
          <a:xfrm>
            <a:off x="5022799" y="1548079"/>
            <a:ext cx="241402" cy="241402"/>
          </a:xfrm>
          <a:prstGeom prst="rect">
            <a:avLst/>
          </a:prstGeom>
        </p:spPr>
      </p:pic>
      <p:sp>
        <p:nvSpPr>
          <p:cNvPr id="11" name="text-244"/>
          <p:cNvSpPr txBox="1"/>
          <p:nvPr/>
        </p:nvSpPr>
        <p:spPr>
          <a:xfrm>
            <a:off x="5532120" y="1463040"/>
            <a:ext cx="3017520" cy="411480"/>
          </a:xfrm>
          <a:prstGeom prst="rect">
            <a:avLst/>
          </a:prstGeom>
          <a:noFill/>
          <a:ln/>
        </p:spPr>
        <p:txBody>
          <a:bodyPr wrap="square" lIns="0" tIns="0" rIns="0" bIns="0" rtlCol="0" anchor="ctr"/>
          <a:lstStyle/>
          <a:p>
            <a:pPr indent="0" marL="0">
              <a:buNone/>
            </a:pPr>
            <a:r>
              <a:rPr lang="en-US" sz="1500" b="1" dirty="0">
                <a:solidFill>
                  <a:schemeClr val="tx2"/>
                </a:solidFill>
              </a:rPr>
              <a:t>dotnet-devops-engineer</a:t>
            </a:r>
            <a:endParaRPr lang="en-US" sz="1500" dirty="0"/>
          </a:p>
        </p:txBody>
      </p:sp>
      <p:sp>
        <p:nvSpPr>
          <p:cNvPr id="12" name="text-245"/>
          <p:cNvSpPr txBox="1"/>
          <p:nvPr/>
        </p:nvSpPr>
        <p:spPr>
          <a:xfrm>
            <a:off x="4892040" y="2029968"/>
            <a:ext cx="3611880" cy="640080"/>
          </a:xfrm>
          <a:prstGeom prst="rect">
            <a:avLst/>
          </a:prstGeom>
          <a:noFill/>
          <a:ln/>
        </p:spPr>
        <p:txBody>
          <a:bodyPr wrap="square" lIns="0" tIns="0" rIns="0" bIns="0" rtlCol="0" anchor="t"/>
          <a:lstStyle/>
          <a:p>
            <a:pPr indent="0" marL="0">
              <a:buNone/>
            </a:pPr>
            <a:r>
              <a:rPr lang="en-US" sz="1200" dirty="0">
                <a:solidFill>
                  <a:schemeClr val="tx1"/>
                </a:solidFill>
              </a:rPr>
              <a:t>Chiseled non-root Dockerfile, compose with generated dev secrets, Azure Pipeline with format, vulnerability and secret scans.</a:t>
            </a:r>
            <a:endParaRPr lang="en-US" sz="1200" dirty="0"/>
          </a:p>
        </p:txBody>
      </p:sp>
      <p:sp>
        <p:nvSpPr>
          <p:cNvPr id="13" name="card-246"/>
          <p:cNvSpPr/>
          <p:nvPr/>
        </p:nvSpPr>
        <p:spPr>
          <a:xfrm>
            <a:off x="457200" y="2926080"/>
            <a:ext cx="4023360" cy="1554480"/>
          </a:xfrm>
          <a:prstGeom prst="roundRect">
            <a:avLst>
              <a:gd name="adj" fmla="val 4706"/>
            </a:avLst>
          </a:prstGeom>
          <a:solidFill>
            <a:schemeClr val="bg2"/>
          </a:solidFill>
          <a:ln/>
        </p:spPr>
      </p:sp>
      <p:sp>
        <p:nvSpPr>
          <p:cNvPr id="14" name="icon-circle-247"/>
          <p:cNvSpPr/>
          <p:nvPr/>
        </p:nvSpPr>
        <p:spPr>
          <a:xfrm>
            <a:off x="685800" y="3154680"/>
            <a:ext cx="502920" cy="502920"/>
          </a:xfrm>
          <a:prstGeom prst="ellipse">
            <a:avLst/>
          </a:prstGeom>
          <a:solidFill>
            <a:schemeClr val="accent3"/>
          </a:solidFill>
          <a:ln/>
        </p:spPr>
      </p:sp>
      <p:pic>
        <p:nvPicPr>
          <p:cNvPr id="15" name="icon-248" descr="icon">    </p:cNvPr>
          <p:cNvPicPr>
            <a:picLocks noChangeAspect="1"/>
          </p:cNvPicPr>
          <p:nvPr/>
        </p:nvPicPr>
        <p:blipFill>
          <a:blip r:embed="rId3"/>
          <a:stretch>
            <a:fillRect/>
          </a:stretch>
        </p:blipFill>
        <p:spPr>
          <a:xfrm>
            <a:off x="816559" y="3285439"/>
            <a:ext cx="241402" cy="241402"/>
          </a:xfrm>
          <a:prstGeom prst="rect">
            <a:avLst/>
          </a:prstGeom>
        </p:spPr>
      </p:pic>
      <p:sp>
        <p:nvSpPr>
          <p:cNvPr id="16" name="text-249"/>
          <p:cNvSpPr txBox="1"/>
          <p:nvPr/>
        </p:nvSpPr>
        <p:spPr>
          <a:xfrm>
            <a:off x="1325880" y="3200400"/>
            <a:ext cx="3017520" cy="411480"/>
          </a:xfrm>
          <a:prstGeom prst="rect">
            <a:avLst/>
          </a:prstGeom>
          <a:noFill/>
          <a:ln/>
        </p:spPr>
        <p:txBody>
          <a:bodyPr wrap="square" lIns="0" tIns="0" rIns="0" bIns="0" rtlCol="0" anchor="ctr"/>
          <a:lstStyle/>
          <a:p>
            <a:pPr indent="0" marL="0">
              <a:buNone/>
            </a:pPr>
            <a:r>
              <a:rPr lang="en-US" sz="1500" b="1" dirty="0">
                <a:solidFill>
                  <a:schemeClr val="tx2"/>
                </a:solidFill>
              </a:rPr>
              <a:t>dotnet-test-engineer</a:t>
            </a:r>
            <a:endParaRPr lang="en-US" sz="1500" dirty="0"/>
          </a:p>
        </p:txBody>
      </p:sp>
      <p:sp>
        <p:nvSpPr>
          <p:cNvPr id="17" name="text-250"/>
          <p:cNvSpPr txBox="1"/>
          <p:nvPr/>
        </p:nvSpPr>
        <p:spPr>
          <a:xfrm>
            <a:off x="685800" y="3767328"/>
            <a:ext cx="3611880" cy="640080"/>
          </a:xfrm>
          <a:prstGeom prst="rect">
            <a:avLst/>
          </a:prstGeom>
          <a:noFill/>
          <a:ln/>
        </p:spPr>
        <p:txBody>
          <a:bodyPr wrap="square" lIns="0" tIns="0" rIns="0" bIns="0" rtlCol="0" anchor="t"/>
          <a:lstStyle/>
          <a:p>
            <a:pPr indent="0" marL="0">
              <a:buNone/>
            </a:pPr>
            <a:r>
              <a:rPr lang="en-US" sz="1200" dirty="0">
                <a:solidFill>
                  <a:schemeClr val="tx1"/>
                </a:solidFill>
              </a:rPr>
              <a:t>217 unit, 45 architecture and 134 integration tests. Found and fixed 3 production bugs along the way.</a:t>
            </a:r>
            <a:endParaRPr lang="en-US" sz="1200" dirty="0"/>
          </a:p>
        </p:txBody>
      </p:sp>
      <p:sp>
        <p:nvSpPr>
          <p:cNvPr id="18" name="card-251"/>
          <p:cNvSpPr/>
          <p:nvPr/>
        </p:nvSpPr>
        <p:spPr>
          <a:xfrm>
            <a:off x="4663440" y="2926080"/>
            <a:ext cx="4023360" cy="1554480"/>
          </a:xfrm>
          <a:prstGeom prst="roundRect">
            <a:avLst>
              <a:gd name="adj" fmla="val 4706"/>
            </a:avLst>
          </a:prstGeom>
          <a:solidFill>
            <a:schemeClr val="bg2"/>
          </a:solidFill>
          <a:ln/>
        </p:spPr>
      </p:sp>
      <p:sp>
        <p:nvSpPr>
          <p:cNvPr id="19" name="icon-circle-252"/>
          <p:cNvSpPr/>
          <p:nvPr/>
        </p:nvSpPr>
        <p:spPr>
          <a:xfrm>
            <a:off x="4892040" y="3154680"/>
            <a:ext cx="502920" cy="502920"/>
          </a:xfrm>
          <a:prstGeom prst="ellipse">
            <a:avLst/>
          </a:prstGeom>
          <a:solidFill>
            <a:schemeClr val="accent3"/>
          </a:solidFill>
          <a:ln/>
        </p:spPr>
      </p:sp>
      <p:pic>
        <p:nvPicPr>
          <p:cNvPr id="20" name="icon-253" descr="icon">    </p:cNvPr>
          <p:cNvPicPr>
            <a:picLocks noChangeAspect="1"/>
          </p:cNvPicPr>
          <p:nvPr/>
        </p:nvPicPr>
        <p:blipFill>
          <a:blip r:embed="rId4"/>
          <a:stretch>
            <a:fillRect/>
          </a:stretch>
        </p:blipFill>
        <p:spPr>
          <a:xfrm>
            <a:off x="5022799" y="3285439"/>
            <a:ext cx="241402" cy="241402"/>
          </a:xfrm>
          <a:prstGeom prst="rect">
            <a:avLst/>
          </a:prstGeom>
        </p:spPr>
      </p:pic>
      <p:sp>
        <p:nvSpPr>
          <p:cNvPr id="21" name="text-254"/>
          <p:cNvSpPr txBox="1"/>
          <p:nvPr/>
        </p:nvSpPr>
        <p:spPr>
          <a:xfrm>
            <a:off x="5532120" y="3200400"/>
            <a:ext cx="3017520" cy="411480"/>
          </a:xfrm>
          <a:prstGeom prst="rect">
            <a:avLst/>
          </a:prstGeom>
          <a:noFill/>
          <a:ln/>
        </p:spPr>
        <p:txBody>
          <a:bodyPr wrap="square" lIns="0" tIns="0" rIns="0" bIns="0" rtlCol="0" anchor="ctr"/>
          <a:lstStyle/>
          <a:p>
            <a:pPr indent="0" marL="0">
              <a:buNone/>
            </a:pPr>
            <a:r>
              <a:rPr lang="en-US" sz="1500" b="1" dirty="0">
                <a:solidFill>
                  <a:schemeClr val="tx2"/>
                </a:solidFill>
              </a:rPr>
              <a:t>api-collection-engineer</a:t>
            </a:r>
            <a:endParaRPr lang="en-US" sz="1500" dirty="0"/>
          </a:p>
        </p:txBody>
      </p:sp>
      <p:sp>
        <p:nvSpPr>
          <p:cNvPr id="22" name="text-255"/>
          <p:cNvSpPr txBox="1"/>
          <p:nvPr/>
        </p:nvSpPr>
        <p:spPr>
          <a:xfrm>
            <a:off x="4892040" y="3767328"/>
            <a:ext cx="3611880" cy="640080"/>
          </a:xfrm>
          <a:prstGeom prst="rect">
            <a:avLst/>
          </a:prstGeom>
          <a:noFill/>
          <a:ln/>
        </p:spPr>
        <p:txBody>
          <a:bodyPr wrap="square" lIns="0" tIns="0" rIns="0" bIns="0" rtlCol="0" anchor="t"/>
          <a:lstStyle/>
          <a:p>
            <a:pPr indent="0" marL="0">
              <a:buNone/>
            </a:pPr>
            <a:r>
              <a:rPr lang="en-US" sz="1200" dirty="0">
                <a:solidFill>
                  <a:schemeClr val="tx1"/>
                </a:solidFill>
              </a:rPr>
              <a:t>10 .http files with about 320 requests, including 401, 403, BOLA, 412 and 428 cases.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Fresh-context reviews found real issues</a:t>
            </a:r>
            <a:endParaRPr lang="en-US" sz="3000" dirty="0"/>
          </a:p>
        </p:txBody>
      </p:sp>
      <p:graphicFrame>
        <p:nvGraphicFramePr>
          <p:cNvPr id="3" name="Chart 0" descr=""/>
          <p:cNvGraphicFramePr/>
          <p:nvPr/>
        </p:nvGraphicFramePr>
        <p:xfrm>
          <a:off x="365760" y="1097280"/>
          <a:ext cx="4206240" cy="3017520"/>
        </p:xfrm>
        <a:graphic xmlns:a="http://schemas.openxmlformats.org/drawingml/2006/main">
          <a:graphicData uri="http://schemas.openxmlformats.org/drawingml/2006/chart">
            <c:chart xmlns:c="http://schemas.openxmlformats.org/drawingml/2006/chart" r:id="rId1"/>
          </a:graphicData>
        </a:graphic>
      </p:graphicFrame>
      <p:sp>
        <p:nvSpPr>
          <p:cNvPr id="4" name="text-256"/>
          <p:cNvSpPr txBox="1"/>
          <p:nvPr/>
        </p:nvSpPr>
        <p:spPr>
          <a:xfrm>
            <a:off x="4937760" y="1188720"/>
            <a:ext cx="3749040" cy="274320"/>
          </a:xfrm>
          <a:prstGeom prst="rect">
            <a:avLst/>
          </a:prstGeom>
          <a:noFill/>
          <a:ln/>
        </p:spPr>
        <p:txBody>
          <a:bodyPr wrap="square" lIns="0" tIns="0" rIns="0" bIns="0" rtlCol="0" anchor="t"/>
          <a:lstStyle/>
          <a:p>
            <a:pPr indent="0" marL="0">
              <a:buNone/>
            </a:pPr>
            <a:r>
              <a:rPr lang="en-US" sz="1500" b="1" dirty="0">
                <a:solidFill>
                  <a:schemeClr val="tx2"/>
                </a:solidFill>
              </a:rPr>
              <a:t>Fixed, with a test for each</a:t>
            </a:r>
            <a:endParaRPr lang="en-US" sz="1500" dirty="0"/>
          </a:p>
        </p:txBody>
      </p:sp>
      <p:sp>
        <p:nvSpPr>
          <p:cNvPr id="5" name="text-257"/>
          <p:cNvSpPr txBox="1"/>
          <p:nvPr/>
        </p:nvSpPr>
        <p:spPr>
          <a:xfrm>
            <a:off x="4937760" y="1554480"/>
            <a:ext cx="374904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Wrong current password never counted toward lockout</a:t>
            </a:r>
            <a:endParaRPr lang="en-US" sz="1400" dirty="0"/>
          </a:p>
          <a:p>
            <a:pPr marL="177800" indent="-177800">
              <a:spcAft>
                <a:spcPts val="600"/>
              </a:spcAft>
              <a:buSzPct val="100000"/>
              <a:buChar char="•"/>
            </a:pPr>
            <a:r>
              <a:rPr lang="en-US" sz="1300" dirty="0">
                <a:solidFill>
                  <a:schemeClr val="tx1"/>
                </a:solidFill>
              </a:rPr>
              <a:t>Register revealed whether an email already existed</a:t>
            </a:r>
            <a:endParaRPr lang="en-US" sz="1400" dirty="0"/>
          </a:p>
          <a:p>
            <a:pPr marL="177800" indent="-177800">
              <a:spcAft>
                <a:spcPts val="600"/>
              </a:spcAft>
              <a:buSzPct val="100000"/>
              <a:buChar char="•"/>
            </a:pPr>
            <a:r>
              <a:rPr lang="en-US" sz="1300" dirty="0">
                <a:solidFill>
                  <a:schemeClr val="tx1"/>
                </a:solidFill>
              </a:rPr>
              <a:t>Fake email sender logged reset links in every environment</a:t>
            </a:r>
            <a:endParaRPr lang="en-US" sz="1400" dirty="0"/>
          </a:p>
          <a:p>
            <a:pPr marL="177800" indent="-177800">
              <a:spcAft>
                <a:spcPts val="600"/>
              </a:spcAft>
              <a:buSzPct val="100000"/>
              <a:buChar char="•"/>
            </a:pPr>
            <a:r>
              <a:rPr lang="en-US" sz="1300" dirty="0">
                <a:solidFill>
                  <a:schemeClr val="tx1"/>
                </a:solidFill>
              </a:rPr>
              <a:t>Concurrency conflicts returned 500 instead of 409</a:t>
            </a:r>
            <a:endParaRPr lang="en-US" sz="1400" dirty="0"/>
          </a:p>
        </p:txBody>
      </p:sp>
      <p:sp>
        <p:nvSpPr>
          <p:cNvPr id="6" name="text-258"/>
          <p:cNvSpPr txBox="1"/>
          <p:nvPr/>
        </p:nvSpPr>
        <p:spPr>
          <a:xfrm>
            <a:off x="4937760" y="3520440"/>
            <a:ext cx="3749040" cy="457200"/>
          </a:xfrm>
          <a:prstGeom prst="rect">
            <a:avLst/>
          </a:prstGeom>
          <a:noFill/>
          <a:ln/>
        </p:spPr>
        <p:txBody>
          <a:bodyPr wrap="square" lIns="0" tIns="0" rIns="0" bIns="0" rtlCol="0" anchor="t"/>
          <a:lstStyle/>
          <a:p>
            <a:pPr indent="0" marL="0">
              <a:buNone/>
            </a:pPr>
            <a:r>
              <a:rPr lang="en-US" sz="1300" i="1" dirty="0">
                <a:solidFill>
                  <a:schemeClr val="accent5"/>
                </a:solidFill>
              </a:rPr>
              <a:t>7 findings left open on purpose, each with a written reason.</a:t>
            </a:r>
            <a:endParaRPr lang="en-US" sz="1300" dirty="0"/>
          </a:p>
        </p:txBody>
      </p:sp>
      <p:sp>
        <p:nvSpPr>
          <p:cNvPr id="7" name="card-259"/>
          <p:cNvSpPr/>
          <p:nvPr/>
        </p:nvSpPr>
        <p:spPr>
          <a:xfrm>
            <a:off x="457200" y="4206240"/>
            <a:ext cx="8229600" cy="457200"/>
          </a:xfrm>
          <a:prstGeom prst="roundRect">
            <a:avLst>
              <a:gd name="adj" fmla="val 16000"/>
            </a:avLst>
          </a:prstGeom>
          <a:solidFill>
            <a:schemeClr val="bg2"/>
          </a:solidFill>
          <a:ln/>
        </p:spPr>
      </p:sp>
      <p:sp>
        <p:nvSpPr>
          <p:cNvPr id="8" name="text-260"/>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chemeClr val="tx2"/>
                </a:solidFill>
              </a:rPr>
              <a:t>After fixes:  </a:t>
            </a:r>
            <a:pPr indent="0" marL="0">
              <a:buNone/>
            </a:pPr>
            <a:r>
              <a:rPr lang="en-US" sz="1300" dirty="0">
                <a:solidFill>
                  <a:schemeClr val="tx1"/>
                </a:solidFill>
              </a:rPr>
              <a:t>0 build warnings  ·  format clean  ·  401 tests pass  ·  9 of 9 .http files pass against the running stack</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Then the API demoed itself</a:t>
            </a:r>
            <a:endParaRPr lang="en-US" sz="3000" dirty="0"/>
          </a:p>
        </p:txBody>
      </p:sp>
      <p:sp>
        <p:nvSpPr>
          <p:cNvPr id="3" name="icon-circle-261"/>
          <p:cNvSpPr/>
          <p:nvPr/>
        </p:nvSpPr>
        <p:spPr>
          <a:xfrm>
            <a:off x="960120" y="1325880"/>
            <a:ext cx="640080" cy="640080"/>
          </a:xfrm>
          <a:prstGeom prst="ellipse">
            <a:avLst/>
          </a:prstGeom>
          <a:solidFill>
            <a:schemeClr val="accent1"/>
          </a:solidFill>
          <a:ln/>
        </p:spPr>
      </p:sp>
      <p:pic>
        <p:nvPicPr>
          <p:cNvPr id="4" name="icon-262" descr="icon">    </p:cNvPr>
          <p:cNvPicPr>
            <a:picLocks noChangeAspect="1"/>
          </p:cNvPicPr>
          <p:nvPr/>
        </p:nvPicPr>
        <p:blipFill>
          <a:blip r:embed="rId1"/>
          <a:stretch>
            <a:fillRect/>
          </a:stretch>
        </p:blipFill>
        <p:spPr>
          <a:xfrm>
            <a:off x="1126541" y="1492301"/>
            <a:ext cx="307238" cy="307238"/>
          </a:xfrm>
          <a:prstGeom prst="rect">
            <a:avLst/>
          </a:prstGeom>
        </p:spPr>
      </p:pic>
      <p:sp>
        <p:nvSpPr>
          <p:cNvPr id="5" name="arrow-263"/>
          <p:cNvSpPr/>
          <p:nvPr/>
        </p:nvSpPr>
        <p:spPr>
          <a:xfrm>
            <a:off x="1691640" y="1645920"/>
            <a:ext cx="822960" cy="0"/>
          </a:xfrm>
          <a:prstGeom prst="line">
            <a:avLst/>
          </a:prstGeom>
          <a:noFill/>
          <a:ln w="19050">
            <a:solidFill>
              <a:srgbClr val="7D7799"/>
            </a:solidFill>
            <a:prstDash val="solid"/>
            <a:tailEnd type="triangle"/>
          </a:ln>
        </p:spPr>
      </p:sp>
      <p:sp>
        <p:nvSpPr>
          <p:cNvPr id="6" name="text-264"/>
          <p:cNvSpPr txBox="1"/>
          <p:nvPr/>
        </p:nvSpPr>
        <p:spPr>
          <a:xfrm>
            <a:off x="457200" y="210312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Script</a:t>
            </a:r>
            <a:endParaRPr lang="en-US" sz="1400" dirty="0"/>
          </a:p>
        </p:txBody>
      </p:sp>
      <p:sp>
        <p:nvSpPr>
          <p:cNvPr id="7" name="text-265"/>
          <p:cNvSpPr txBox="1"/>
          <p:nvPr/>
        </p:nvSpPr>
        <p:spPr>
          <a:xfrm>
            <a:off x="548640" y="2377440"/>
            <a:ext cx="1463040" cy="457200"/>
          </a:xfrm>
          <a:prstGeom prst="rect">
            <a:avLst/>
          </a:prstGeom>
          <a:noFill/>
          <a:ln/>
        </p:spPr>
        <p:txBody>
          <a:bodyPr wrap="square" lIns="0" tIns="0" rIns="0" bIns="0" rtlCol="0" anchor="t"/>
          <a:lstStyle/>
          <a:p>
            <a:pPr algn="ctr" indent="0" marL="0">
              <a:buNone/>
            </a:pPr>
            <a:r>
              <a:rPr lang="en-US" sz="1100" dirty="0">
                <a:solidFill>
                  <a:schemeClr val="accent5"/>
                </a:solidFill>
              </a:rPr>
              <a:t>narration.json</a:t>
            </a:r>
            <a:endParaRPr lang="en-US" sz="1100" dirty="0"/>
          </a:p>
        </p:txBody>
      </p:sp>
      <p:sp>
        <p:nvSpPr>
          <p:cNvPr id="8" name="icon-circle-266"/>
          <p:cNvSpPr/>
          <p:nvPr/>
        </p:nvSpPr>
        <p:spPr>
          <a:xfrm>
            <a:off x="2606040" y="1325880"/>
            <a:ext cx="640080" cy="640080"/>
          </a:xfrm>
          <a:prstGeom prst="ellipse">
            <a:avLst/>
          </a:prstGeom>
          <a:solidFill>
            <a:schemeClr val="accent1"/>
          </a:solidFill>
          <a:ln/>
        </p:spPr>
      </p:sp>
      <p:pic>
        <p:nvPicPr>
          <p:cNvPr id="9" name="icon-267" descr="icon">    </p:cNvPr>
          <p:cNvPicPr>
            <a:picLocks noChangeAspect="1"/>
          </p:cNvPicPr>
          <p:nvPr/>
        </p:nvPicPr>
        <p:blipFill>
          <a:blip r:embed="rId2"/>
          <a:stretch>
            <a:fillRect/>
          </a:stretch>
        </p:blipFill>
        <p:spPr>
          <a:xfrm>
            <a:off x="2772461" y="1492301"/>
            <a:ext cx="307238" cy="307238"/>
          </a:xfrm>
          <a:prstGeom prst="rect">
            <a:avLst/>
          </a:prstGeom>
        </p:spPr>
      </p:pic>
      <p:sp>
        <p:nvSpPr>
          <p:cNvPr id="10" name="arrow-268"/>
          <p:cNvSpPr/>
          <p:nvPr/>
        </p:nvSpPr>
        <p:spPr>
          <a:xfrm>
            <a:off x="3337560" y="1645920"/>
            <a:ext cx="822960" cy="0"/>
          </a:xfrm>
          <a:prstGeom prst="line">
            <a:avLst/>
          </a:prstGeom>
          <a:noFill/>
          <a:ln w="19050">
            <a:solidFill>
              <a:srgbClr val="7D7799"/>
            </a:solidFill>
            <a:prstDash val="solid"/>
            <a:tailEnd type="triangle"/>
          </a:ln>
        </p:spPr>
      </p:sp>
      <p:sp>
        <p:nvSpPr>
          <p:cNvPr id="11" name="text-269"/>
          <p:cNvSpPr txBox="1"/>
          <p:nvPr/>
        </p:nvSpPr>
        <p:spPr>
          <a:xfrm>
            <a:off x="2103120" y="210312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Voice-over</a:t>
            </a:r>
            <a:endParaRPr lang="en-US" sz="1400" dirty="0"/>
          </a:p>
        </p:txBody>
      </p:sp>
      <p:sp>
        <p:nvSpPr>
          <p:cNvPr id="12" name="text-270"/>
          <p:cNvSpPr txBox="1"/>
          <p:nvPr/>
        </p:nvSpPr>
        <p:spPr>
          <a:xfrm>
            <a:off x="2194560" y="2377440"/>
            <a:ext cx="1463040" cy="457200"/>
          </a:xfrm>
          <a:prstGeom prst="rect">
            <a:avLst/>
          </a:prstGeom>
          <a:noFill/>
          <a:ln/>
        </p:spPr>
        <p:txBody>
          <a:bodyPr wrap="square" lIns="0" tIns="0" rIns="0" bIns="0" rtlCol="0" anchor="t"/>
          <a:lstStyle/>
          <a:p>
            <a:pPr algn="ctr" indent="0" marL="0">
              <a:buNone/>
            </a:pPr>
            <a:r>
              <a:rPr lang="en-US" sz="1100" dirty="0">
                <a:solidFill>
                  <a:schemeClr val="accent5"/>
                </a:solidFill>
              </a:rPr>
              <a:t>edge-tts, en-US Ava</a:t>
            </a:r>
            <a:endParaRPr lang="en-US" sz="1100" dirty="0"/>
          </a:p>
        </p:txBody>
      </p:sp>
      <p:sp>
        <p:nvSpPr>
          <p:cNvPr id="13" name="icon-circle-271"/>
          <p:cNvSpPr/>
          <p:nvPr/>
        </p:nvSpPr>
        <p:spPr>
          <a:xfrm>
            <a:off x="4251960" y="1325880"/>
            <a:ext cx="640080" cy="640080"/>
          </a:xfrm>
          <a:prstGeom prst="ellipse">
            <a:avLst/>
          </a:prstGeom>
          <a:solidFill>
            <a:schemeClr val="accent1"/>
          </a:solidFill>
          <a:ln/>
        </p:spPr>
      </p:sp>
      <p:pic>
        <p:nvPicPr>
          <p:cNvPr id="14" name="icon-272" descr="icon">    </p:cNvPr>
          <p:cNvPicPr>
            <a:picLocks noChangeAspect="1"/>
          </p:cNvPicPr>
          <p:nvPr/>
        </p:nvPicPr>
        <p:blipFill>
          <a:blip r:embed="rId3"/>
          <a:stretch>
            <a:fillRect/>
          </a:stretch>
        </p:blipFill>
        <p:spPr>
          <a:xfrm>
            <a:off x="4418381" y="1492301"/>
            <a:ext cx="307238" cy="307238"/>
          </a:xfrm>
          <a:prstGeom prst="rect">
            <a:avLst/>
          </a:prstGeom>
        </p:spPr>
      </p:pic>
      <p:sp>
        <p:nvSpPr>
          <p:cNvPr id="15" name="arrow-273"/>
          <p:cNvSpPr/>
          <p:nvPr/>
        </p:nvSpPr>
        <p:spPr>
          <a:xfrm>
            <a:off x="4983480" y="1645920"/>
            <a:ext cx="822960" cy="0"/>
          </a:xfrm>
          <a:prstGeom prst="line">
            <a:avLst/>
          </a:prstGeom>
          <a:noFill/>
          <a:ln w="19050">
            <a:solidFill>
              <a:srgbClr val="7D7799"/>
            </a:solidFill>
            <a:prstDash val="solid"/>
            <a:tailEnd type="triangle"/>
          </a:ln>
        </p:spPr>
      </p:sp>
      <p:sp>
        <p:nvSpPr>
          <p:cNvPr id="16" name="text-274"/>
          <p:cNvSpPr txBox="1"/>
          <p:nvPr/>
        </p:nvSpPr>
        <p:spPr>
          <a:xfrm>
            <a:off x="3749040" y="210312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Drive + record</a:t>
            </a:r>
            <a:endParaRPr lang="en-US" sz="1400" dirty="0"/>
          </a:p>
        </p:txBody>
      </p:sp>
      <p:sp>
        <p:nvSpPr>
          <p:cNvPr id="17" name="text-275"/>
          <p:cNvSpPr txBox="1"/>
          <p:nvPr/>
        </p:nvSpPr>
        <p:spPr>
          <a:xfrm>
            <a:off x="3840480" y="2377440"/>
            <a:ext cx="1463040" cy="457200"/>
          </a:xfrm>
          <a:prstGeom prst="rect">
            <a:avLst/>
          </a:prstGeom>
          <a:noFill/>
          <a:ln/>
        </p:spPr>
        <p:txBody>
          <a:bodyPr wrap="square" lIns="0" tIns="0" rIns="0" bIns="0" rtlCol="0" anchor="t"/>
          <a:lstStyle/>
          <a:p>
            <a:pPr algn="ctr" indent="0" marL="0">
              <a:buNone/>
            </a:pPr>
            <a:r>
              <a:rPr lang="en-US" sz="1100" dirty="0">
                <a:solidFill>
                  <a:schemeClr val="accent5"/>
                </a:solidFill>
              </a:rPr>
              <a:t>Playwright in Scalar, 1600×900</a:t>
            </a:r>
            <a:endParaRPr lang="en-US" sz="1100" dirty="0"/>
          </a:p>
        </p:txBody>
      </p:sp>
      <p:sp>
        <p:nvSpPr>
          <p:cNvPr id="18" name="icon-circle-276"/>
          <p:cNvSpPr/>
          <p:nvPr/>
        </p:nvSpPr>
        <p:spPr>
          <a:xfrm>
            <a:off x="5897880" y="1325880"/>
            <a:ext cx="640080" cy="640080"/>
          </a:xfrm>
          <a:prstGeom prst="ellipse">
            <a:avLst/>
          </a:prstGeom>
          <a:solidFill>
            <a:schemeClr val="accent1"/>
          </a:solidFill>
          <a:ln/>
        </p:spPr>
      </p:sp>
      <p:pic>
        <p:nvPicPr>
          <p:cNvPr id="19" name="icon-277" descr="icon">    </p:cNvPr>
          <p:cNvPicPr>
            <a:picLocks noChangeAspect="1"/>
          </p:cNvPicPr>
          <p:nvPr/>
        </p:nvPicPr>
        <p:blipFill>
          <a:blip r:embed="rId4"/>
          <a:stretch>
            <a:fillRect/>
          </a:stretch>
        </p:blipFill>
        <p:spPr>
          <a:xfrm>
            <a:off x="6064301" y="1492301"/>
            <a:ext cx="307238" cy="307238"/>
          </a:xfrm>
          <a:prstGeom prst="rect">
            <a:avLst/>
          </a:prstGeom>
        </p:spPr>
      </p:pic>
      <p:sp>
        <p:nvSpPr>
          <p:cNvPr id="20" name="arrow-278"/>
          <p:cNvSpPr/>
          <p:nvPr/>
        </p:nvSpPr>
        <p:spPr>
          <a:xfrm>
            <a:off x="6629400" y="1645920"/>
            <a:ext cx="822960" cy="0"/>
          </a:xfrm>
          <a:prstGeom prst="line">
            <a:avLst/>
          </a:prstGeom>
          <a:noFill/>
          <a:ln w="19050">
            <a:solidFill>
              <a:srgbClr val="7D7799"/>
            </a:solidFill>
            <a:prstDash val="solid"/>
            <a:tailEnd type="triangle"/>
          </a:ln>
        </p:spPr>
      </p:sp>
      <p:sp>
        <p:nvSpPr>
          <p:cNvPr id="21" name="text-279"/>
          <p:cNvSpPr txBox="1"/>
          <p:nvPr/>
        </p:nvSpPr>
        <p:spPr>
          <a:xfrm>
            <a:off x="5394960" y="210312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Edit</a:t>
            </a:r>
            <a:endParaRPr lang="en-US" sz="1400" dirty="0"/>
          </a:p>
        </p:txBody>
      </p:sp>
      <p:sp>
        <p:nvSpPr>
          <p:cNvPr id="22" name="text-280"/>
          <p:cNvSpPr txBox="1"/>
          <p:nvPr/>
        </p:nvSpPr>
        <p:spPr>
          <a:xfrm>
            <a:off x="5486400" y="2377440"/>
            <a:ext cx="1463040" cy="457200"/>
          </a:xfrm>
          <a:prstGeom prst="rect">
            <a:avLst/>
          </a:prstGeom>
          <a:noFill/>
          <a:ln/>
        </p:spPr>
        <p:txBody>
          <a:bodyPr wrap="square" lIns="0" tIns="0" rIns="0" bIns="0" rtlCol="0" anchor="t"/>
          <a:lstStyle/>
          <a:p>
            <a:pPr algn="ctr" indent="0" marL="0">
              <a:buNone/>
            </a:pPr>
            <a:r>
              <a:rPr lang="en-US" sz="1100" dirty="0">
                <a:solidFill>
                  <a:schemeClr val="accent5"/>
                </a:solidFill>
              </a:rPr>
              <a:t>FFmpeg mix and encode</a:t>
            </a:r>
            <a:endParaRPr lang="en-US" sz="1100" dirty="0"/>
          </a:p>
        </p:txBody>
      </p:sp>
      <p:sp>
        <p:nvSpPr>
          <p:cNvPr id="23" name="icon-circle-281"/>
          <p:cNvSpPr/>
          <p:nvPr/>
        </p:nvSpPr>
        <p:spPr>
          <a:xfrm>
            <a:off x="7543800" y="1325880"/>
            <a:ext cx="640080" cy="640080"/>
          </a:xfrm>
          <a:prstGeom prst="ellipse">
            <a:avLst/>
          </a:prstGeom>
          <a:solidFill>
            <a:schemeClr val="accent2"/>
          </a:solidFill>
          <a:ln/>
        </p:spPr>
      </p:sp>
      <p:pic>
        <p:nvPicPr>
          <p:cNvPr id="24" name="icon-282" descr="icon">    </p:cNvPr>
          <p:cNvPicPr>
            <a:picLocks noChangeAspect="1"/>
          </p:cNvPicPr>
          <p:nvPr/>
        </p:nvPicPr>
        <p:blipFill>
          <a:blip r:embed="rId5"/>
          <a:stretch>
            <a:fillRect/>
          </a:stretch>
        </p:blipFill>
        <p:spPr>
          <a:xfrm>
            <a:off x="7710221" y="1492301"/>
            <a:ext cx="307238" cy="307238"/>
          </a:xfrm>
          <a:prstGeom prst="rect">
            <a:avLst/>
          </a:prstGeom>
        </p:spPr>
      </p:pic>
      <p:sp>
        <p:nvSpPr>
          <p:cNvPr id="25" name="text-283"/>
          <p:cNvSpPr txBox="1"/>
          <p:nvPr/>
        </p:nvSpPr>
        <p:spPr>
          <a:xfrm>
            <a:off x="7040880" y="210312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Share</a:t>
            </a:r>
            <a:endParaRPr lang="en-US" sz="1400" dirty="0"/>
          </a:p>
        </p:txBody>
      </p:sp>
      <p:sp>
        <p:nvSpPr>
          <p:cNvPr id="26" name="text-284"/>
          <p:cNvSpPr txBox="1"/>
          <p:nvPr/>
        </p:nvSpPr>
        <p:spPr>
          <a:xfrm>
            <a:off x="7132320" y="2377440"/>
            <a:ext cx="1463040" cy="457200"/>
          </a:xfrm>
          <a:prstGeom prst="rect">
            <a:avLst/>
          </a:prstGeom>
          <a:noFill/>
          <a:ln/>
        </p:spPr>
        <p:txBody>
          <a:bodyPr wrap="square" lIns="0" tIns="0" rIns="0" bIns="0" rtlCol="0" anchor="t"/>
          <a:lstStyle/>
          <a:p>
            <a:pPr algn="ctr" indent="0" marL="0">
              <a:buNone/>
            </a:pPr>
            <a:r>
              <a:rPr lang="en-US" sz="1100" dirty="0">
                <a:solidFill>
                  <a:schemeClr val="accent5"/>
                </a:solidFill>
              </a:rPr>
              <a:t>Loom, linked in the README</a:t>
            </a:r>
            <a:endParaRPr lang="en-US" sz="1100" dirty="0"/>
          </a:p>
        </p:txBody>
      </p:sp>
      <p:sp>
        <p:nvSpPr>
          <p:cNvPr id="27" name="card-285"/>
          <p:cNvSpPr/>
          <p:nvPr/>
        </p:nvSpPr>
        <p:spPr>
          <a:xfrm>
            <a:off x="457200" y="3154680"/>
            <a:ext cx="8229600" cy="1417320"/>
          </a:xfrm>
          <a:prstGeom prst="roundRect">
            <a:avLst>
              <a:gd name="adj" fmla="val 5161"/>
            </a:avLst>
          </a:prstGeom>
          <a:solidFill>
            <a:schemeClr val="bg2"/>
          </a:solidFill>
          <a:ln/>
        </p:spPr>
      </p:sp>
      <p:sp>
        <p:nvSpPr>
          <p:cNvPr id="28" name="text-286"/>
          <p:cNvSpPr txBox="1"/>
          <p:nvPr/>
        </p:nvSpPr>
        <p:spPr>
          <a:xfrm>
            <a:off x="731520" y="3200400"/>
            <a:ext cx="2011680" cy="594360"/>
          </a:xfrm>
          <a:prstGeom prst="rect">
            <a:avLst/>
          </a:prstGeom>
          <a:noFill/>
          <a:ln/>
        </p:spPr>
        <p:txBody>
          <a:bodyPr wrap="square" lIns="0" tIns="0" rIns="0" bIns="0" rtlCol="0" anchor="b"/>
          <a:lstStyle/>
          <a:p>
            <a:pPr indent="0" marL="0">
              <a:buNone/>
            </a:pPr>
            <a:r>
              <a:rPr lang="en-US" sz="3600" b="1" dirty="0">
                <a:solidFill>
                  <a:schemeClr val="accent1"/>
                </a:solidFill>
              </a:rPr>
              <a:t>103 s</a:t>
            </a:r>
            <a:endParaRPr lang="en-US" sz="3600" dirty="0"/>
          </a:p>
        </p:txBody>
      </p:sp>
      <p:sp>
        <p:nvSpPr>
          <p:cNvPr id="29" name="text-287"/>
          <p:cNvSpPr txBox="1"/>
          <p:nvPr/>
        </p:nvSpPr>
        <p:spPr>
          <a:xfrm>
            <a:off x="731520" y="3840480"/>
            <a:ext cx="2011680" cy="457200"/>
          </a:xfrm>
          <a:prstGeom prst="rect">
            <a:avLst/>
          </a:prstGeom>
          <a:noFill/>
          <a:ln/>
        </p:spPr>
        <p:txBody>
          <a:bodyPr wrap="square" lIns="0" tIns="0" rIns="0" bIns="0" rtlCol="0" anchor="t"/>
          <a:lstStyle/>
          <a:p>
            <a:pPr indent="0" marL="0">
              <a:buNone/>
            </a:pPr>
            <a:r>
              <a:rPr lang="en-US" sz="1200" dirty="0">
                <a:solidFill>
                  <a:schemeClr val="tx1"/>
                </a:solidFill>
              </a:rPr>
              <a:t>narrated walkthrough, 1600×900</a:t>
            </a:r>
            <a:endParaRPr lang="en-US" sz="1200" dirty="0"/>
          </a:p>
        </p:txBody>
      </p:sp>
      <p:sp>
        <p:nvSpPr>
          <p:cNvPr id="30" name="text-288"/>
          <p:cNvSpPr txBox="1"/>
          <p:nvPr/>
        </p:nvSpPr>
        <p:spPr>
          <a:xfrm>
            <a:off x="3017520" y="3383280"/>
            <a:ext cx="5486400" cy="1005840"/>
          </a:xfrm>
          <a:prstGeom prst="rect">
            <a:avLst/>
          </a:prstGeom>
          <a:noFill/>
          <a:ln/>
        </p:spPr>
        <p:txBody>
          <a:bodyPr wrap="square" lIns="0" tIns="0" rIns="0" bIns="0" rtlCol="0" anchor="t"/>
          <a:lstStyle/>
          <a:p>
            <a:pPr indent="0" marL="0">
              <a:buNone/>
            </a:pPr>
            <a:r>
              <a:rPr lang="en-US" sz="1300" dirty="0">
                <a:solidFill>
                  <a:schemeClr val="tx1"/>
                </a:solidFill>
              </a:rPr>
              <a:t>Health check, login, products, customers and orders, all against the real compose stack. </a:t>
            </a:r>
            <a:pPr indent="0" marL="0">
              <a:buNone/>
            </a:pPr>
            <a:r>
              <a:rPr lang="en-US" sz="1300" dirty="0">
                <a:solidFill>
                  <a:schemeClr val="accent5"/>
                </a:solidFill>
              </a:rPr>
              <a:t>Every step is scripted in docs/product/10-launch/demo, so the video can be re-recorded for the next version.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Guardrails kept the process honest</a:t>
            </a:r>
            <a:endParaRPr lang="en-US" sz="3000" dirty="0"/>
          </a:p>
        </p:txBody>
      </p:sp>
      <p:sp>
        <p:nvSpPr>
          <p:cNvPr id="3" name="icon-circle-289"/>
          <p:cNvSpPr/>
          <p:nvPr/>
        </p:nvSpPr>
        <p:spPr>
          <a:xfrm>
            <a:off x="457200" y="1234440"/>
            <a:ext cx="502920" cy="502920"/>
          </a:xfrm>
          <a:prstGeom prst="ellipse">
            <a:avLst/>
          </a:prstGeom>
          <a:solidFill>
            <a:schemeClr val="accent1"/>
          </a:solidFill>
          <a:ln/>
        </p:spPr>
      </p:sp>
      <p:pic>
        <p:nvPicPr>
          <p:cNvPr id="4" name="icon-290" descr="icon">    </p:cNvPr>
          <p:cNvPicPr>
            <a:picLocks noChangeAspect="1"/>
          </p:cNvPicPr>
          <p:nvPr/>
        </p:nvPicPr>
        <p:blipFill>
          <a:blip r:embed="rId1"/>
          <a:stretch>
            <a:fillRect/>
          </a:stretch>
        </p:blipFill>
        <p:spPr>
          <a:xfrm>
            <a:off x="587959" y="1365199"/>
            <a:ext cx="241402" cy="241402"/>
          </a:xfrm>
          <a:prstGeom prst="rect">
            <a:avLst/>
          </a:prstGeom>
        </p:spPr>
      </p:pic>
      <p:sp>
        <p:nvSpPr>
          <p:cNvPr id="5" name="text-291"/>
          <p:cNvSpPr txBox="1"/>
          <p:nvPr/>
        </p:nvSpPr>
        <p:spPr>
          <a:xfrm>
            <a:off x="1143000" y="1188720"/>
            <a:ext cx="3291840" cy="292608"/>
          </a:xfrm>
          <a:prstGeom prst="rect">
            <a:avLst/>
          </a:prstGeom>
          <a:noFill/>
          <a:ln/>
        </p:spPr>
        <p:txBody>
          <a:bodyPr wrap="square" lIns="0" tIns="0" rIns="0" bIns="0" rtlCol="0" anchor="t"/>
          <a:lstStyle/>
          <a:p>
            <a:pPr indent="0" marL="0">
              <a:buNone/>
            </a:pPr>
            <a:r>
              <a:rPr lang="en-US" sz="1500" b="1" dirty="0">
                <a:solidFill>
                  <a:schemeClr val="tx2"/>
                </a:solidFill>
              </a:rPr>
              <a:t>Approval gates</a:t>
            </a:r>
            <a:endParaRPr lang="en-US" sz="1500" dirty="0"/>
          </a:p>
        </p:txBody>
      </p:sp>
      <p:sp>
        <p:nvSpPr>
          <p:cNvPr id="6" name="text-292"/>
          <p:cNvSpPr txBox="1"/>
          <p:nvPr/>
        </p:nvSpPr>
        <p:spPr>
          <a:xfrm>
            <a:off x="1143000" y="1499616"/>
            <a:ext cx="3291840" cy="640080"/>
          </a:xfrm>
          <a:prstGeom prst="rect">
            <a:avLst/>
          </a:prstGeom>
          <a:noFill/>
          <a:ln/>
        </p:spPr>
        <p:txBody>
          <a:bodyPr wrap="square" lIns="0" tIns="0" rIns="0" bIns="0" rtlCol="0" anchor="t"/>
          <a:lstStyle/>
          <a:p>
            <a:pPr indent="0" marL="0">
              <a:buNone/>
            </a:pPr>
            <a:r>
              <a:rPr lang="en-US" sz="1200" dirty="0">
                <a:solidFill>
                  <a:schemeClr val="tx1"/>
                </a:solidFill>
              </a:rPr>
              <a:t>No code until the plan was approved; no board write without a preview</a:t>
            </a:r>
            <a:endParaRPr lang="en-US" sz="1200" dirty="0"/>
          </a:p>
        </p:txBody>
      </p:sp>
      <p:sp>
        <p:nvSpPr>
          <p:cNvPr id="7" name="icon-circle-293"/>
          <p:cNvSpPr/>
          <p:nvPr/>
        </p:nvSpPr>
        <p:spPr>
          <a:xfrm>
            <a:off x="4663440" y="1234440"/>
            <a:ext cx="502920" cy="502920"/>
          </a:xfrm>
          <a:prstGeom prst="ellipse">
            <a:avLst/>
          </a:prstGeom>
          <a:solidFill>
            <a:schemeClr val="accent1"/>
          </a:solidFill>
          <a:ln/>
        </p:spPr>
      </p:sp>
      <p:pic>
        <p:nvPicPr>
          <p:cNvPr id="8" name="icon-294" descr="icon">    </p:cNvPr>
          <p:cNvPicPr>
            <a:picLocks noChangeAspect="1"/>
          </p:cNvPicPr>
          <p:nvPr/>
        </p:nvPicPr>
        <p:blipFill>
          <a:blip r:embed="rId2"/>
          <a:stretch>
            <a:fillRect/>
          </a:stretch>
        </p:blipFill>
        <p:spPr>
          <a:xfrm>
            <a:off x="4794199" y="1365199"/>
            <a:ext cx="241402" cy="241402"/>
          </a:xfrm>
          <a:prstGeom prst="rect">
            <a:avLst/>
          </a:prstGeom>
        </p:spPr>
      </p:pic>
      <p:sp>
        <p:nvSpPr>
          <p:cNvPr id="9" name="text-295"/>
          <p:cNvSpPr txBox="1"/>
          <p:nvPr/>
        </p:nvSpPr>
        <p:spPr>
          <a:xfrm>
            <a:off x="5349240" y="1188720"/>
            <a:ext cx="3291840" cy="292608"/>
          </a:xfrm>
          <a:prstGeom prst="rect">
            <a:avLst/>
          </a:prstGeom>
          <a:noFill/>
          <a:ln/>
        </p:spPr>
        <p:txBody>
          <a:bodyPr wrap="square" lIns="0" tIns="0" rIns="0" bIns="0" rtlCol="0" anchor="t"/>
          <a:lstStyle/>
          <a:p>
            <a:pPr indent="0" marL="0">
              <a:buNone/>
            </a:pPr>
            <a:r>
              <a:rPr lang="en-US" sz="1500" b="1" dirty="0">
                <a:solidFill>
                  <a:schemeClr val="tx2"/>
                </a:solidFill>
              </a:rPr>
              <a:t>Read-only reviewers</a:t>
            </a:r>
            <a:endParaRPr lang="en-US" sz="1500" dirty="0"/>
          </a:p>
        </p:txBody>
      </p:sp>
      <p:sp>
        <p:nvSpPr>
          <p:cNvPr id="10" name="text-296"/>
          <p:cNvSpPr txBox="1"/>
          <p:nvPr/>
        </p:nvSpPr>
        <p:spPr>
          <a:xfrm>
            <a:off x="5349240" y="1499616"/>
            <a:ext cx="3291840" cy="640080"/>
          </a:xfrm>
          <a:prstGeom prst="rect">
            <a:avLst/>
          </a:prstGeom>
          <a:noFill/>
          <a:ln/>
        </p:spPr>
        <p:txBody>
          <a:bodyPr wrap="square" lIns="0" tIns="0" rIns="0" bIns="0" rtlCol="0" anchor="t"/>
          <a:lstStyle/>
          <a:p>
            <a:pPr indent="0" marL="0">
              <a:buNone/>
            </a:pPr>
            <a:r>
              <a:rPr lang="en-US" sz="1200" dirty="0">
                <a:solidFill>
                  <a:schemeClr val="tx1"/>
                </a:solidFill>
              </a:rPr>
              <a:t>Reviewers report findings; they never edit the code they judge</a:t>
            </a:r>
            <a:endParaRPr lang="en-US" sz="1200" dirty="0"/>
          </a:p>
        </p:txBody>
      </p:sp>
      <p:sp>
        <p:nvSpPr>
          <p:cNvPr id="11" name="icon-circle-297"/>
          <p:cNvSpPr/>
          <p:nvPr/>
        </p:nvSpPr>
        <p:spPr>
          <a:xfrm>
            <a:off x="457200" y="2377440"/>
            <a:ext cx="502920" cy="502920"/>
          </a:xfrm>
          <a:prstGeom prst="ellipse">
            <a:avLst/>
          </a:prstGeom>
          <a:solidFill>
            <a:schemeClr val="accent1"/>
          </a:solidFill>
          <a:ln/>
        </p:spPr>
      </p:sp>
      <p:pic>
        <p:nvPicPr>
          <p:cNvPr id="12" name="icon-298" descr="icon">    </p:cNvPr>
          <p:cNvPicPr>
            <a:picLocks noChangeAspect="1"/>
          </p:cNvPicPr>
          <p:nvPr/>
        </p:nvPicPr>
        <p:blipFill>
          <a:blip r:embed="rId3"/>
          <a:stretch>
            <a:fillRect/>
          </a:stretch>
        </p:blipFill>
        <p:spPr>
          <a:xfrm>
            <a:off x="587959" y="2508199"/>
            <a:ext cx="241402" cy="241402"/>
          </a:xfrm>
          <a:prstGeom prst="rect">
            <a:avLst/>
          </a:prstGeom>
        </p:spPr>
      </p:pic>
      <p:sp>
        <p:nvSpPr>
          <p:cNvPr id="13" name="text-299"/>
          <p:cNvSpPr txBox="1"/>
          <p:nvPr/>
        </p:nvSpPr>
        <p:spPr>
          <a:xfrm>
            <a:off x="1143000" y="2331720"/>
            <a:ext cx="3291840" cy="292608"/>
          </a:xfrm>
          <a:prstGeom prst="rect">
            <a:avLst/>
          </a:prstGeom>
          <a:noFill/>
          <a:ln/>
        </p:spPr>
        <p:txBody>
          <a:bodyPr wrap="square" lIns="0" tIns="0" rIns="0" bIns="0" rtlCol="0" anchor="t"/>
          <a:lstStyle/>
          <a:p>
            <a:pPr indent="0" marL="0">
              <a:buNone/>
            </a:pPr>
            <a:r>
              <a:rPr lang="en-US" sz="1500" b="1" dirty="0">
                <a:solidFill>
                  <a:schemeClr val="tx2"/>
                </a:solidFill>
              </a:rPr>
              <a:t>Hooks</a:t>
            </a:r>
            <a:endParaRPr lang="en-US" sz="1500" dirty="0"/>
          </a:p>
        </p:txBody>
      </p:sp>
      <p:sp>
        <p:nvSpPr>
          <p:cNvPr id="14" name="text-300"/>
          <p:cNvSpPr txBox="1"/>
          <p:nvPr/>
        </p:nvSpPr>
        <p:spPr>
          <a:xfrm>
            <a:off x="1143000" y="2642616"/>
            <a:ext cx="3291840" cy="640080"/>
          </a:xfrm>
          <a:prstGeom prst="rect">
            <a:avLst/>
          </a:prstGeom>
          <a:noFill/>
          <a:ln/>
        </p:spPr>
        <p:txBody>
          <a:bodyPr wrap="square" lIns="0" tIns="0" rIns="0" bIns="0" rtlCol="0" anchor="t"/>
          <a:lstStyle/>
          <a:p>
            <a:pPr indent="0" marL="0">
              <a:buNone/>
            </a:pPr>
            <a:r>
              <a:rPr lang="en-US" sz="1200" dirty="0">
                <a:solidFill>
                  <a:schemeClr val="tx1"/>
                </a:solidFill>
              </a:rPr>
              <a:t>Blocked risky actions, such as writing a secrets file, instead of working around them</a:t>
            </a:r>
            <a:endParaRPr lang="en-US" sz="1200" dirty="0"/>
          </a:p>
        </p:txBody>
      </p:sp>
      <p:sp>
        <p:nvSpPr>
          <p:cNvPr id="15" name="icon-circle-301"/>
          <p:cNvSpPr/>
          <p:nvPr/>
        </p:nvSpPr>
        <p:spPr>
          <a:xfrm>
            <a:off x="4663440" y="2377440"/>
            <a:ext cx="502920" cy="502920"/>
          </a:xfrm>
          <a:prstGeom prst="ellipse">
            <a:avLst/>
          </a:prstGeom>
          <a:solidFill>
            <a:schemeClr val="accent1"/>
          </a:solidFill>
          <a:ln/>
        </p:spPr>
      </p:sp>
      <p:pic>
        <p:nvPicPr>
          <p:cNvPr id="16" name="icon-302" descr="icon">    </p:cNvPr>
          <p:cNvPicPr>
            <a:picLocks noChangeAspect="1"/>
          </p:cNvPicPr>
          <p:nvPr/>
        </p:nvPicPr>
        <p:blipFill>
          <a:blip r:embed="rId4"/>
          <a:stretch>
            <a:fillRect/>
          </a:stretch>
        </p:blipFill>
        <p:spPr>
          <a:xfrm>
            <a:off x="4794199" y="2508199"/>
            <a:ext cx="241402" cy="241402"/>
          </a:xfrm>
          <a:prstGeom prst="rect">
            <a:avLst/>
          </a:prstGeom>
        </p:spPr>
      </p:pic>
      <p:sp>
        <p:nvSpPr>
          <p:cNvPr id="17" name="text-303"/>
          <p:cNvSpPr txBox="1"/>
          <p:nvPr/>
        </p:nvSpPr>
        <p:spPr>
          <a:xfrm>
            <a:off x="5349240" y="2331720"/>
            <a:ext cx="3291840" cy="292608"/>
          </a:xfrm>
          <a:prstGeom prst="rect">
            <a:avLst/>
          </a:prstGeom>
          <a:noFill/>
          <a:ln/>
        </p:spPr>
        <p:txBody>
          <a:bodyPr wrap="square" lIns="0" tIns="0" rIns="0" bIns="0" rtlCol="0" anchor="t"/>
          <a:lstStyle/>
          <a:p>
            <a:pPr indent="0" marL="0">
              <a:buNone/>
            </a:pPr>
            <a:r>
              <a:rPr lang="en-US" sz="1500" b="1" dirty="0">
                <a:solidFill>
                  <a:schemeClr val="tx2"/>
                </a:solidFill>
              </a:rPr>
              <a:t>notes.md</a:t>
            </a:r>
            <a:endParaRPr lang="en-US" sz="1500" dirty="0"/>
          </a:p>
        </p:txBody>
      </p:sp>
      <p:sp>
        <p:nvSpPr>
          <p:cNvPr id="18" name="text-304"/>
          <p:cNvSpPr txBox="1"/>
          <p:nvPr/>
        </p:nvSpPr>
        <p:spPr>
          <a:xfrm>
            <a:off x="5349240" y="2642616"/>
            <a:ext cx="3291840" cy="640080"/>
          </a:xfrm>
          <a:prstGeom prst="rect">
            <a:avLst/>
          </a:prstGeom>
          <a:noFill/>
          <a:ln/>
        </p:spPr>
        <p:txBody>
          <a:bodyPr wrap="square" lIns="0" tIns="0" rIns="0" bIns="0" rtlCol="0" anchor="t"/>
          <a:lstStyle/>
          <a:p>
            <a:pPr indent="0" marL="0">
              <a:buNone/>
            </a:pPr>
            <a:r>
              <a:rPr lang="en-US" sz="1200" dirty="0">
                <a:solidFill>
                  <a:schemeClr val="tx1"/>
                </a:solidFill>
              </a:rPr>
              <a:t>Every agent and skill call logged: 30 agent calls so far</a:t>
            </a:r>
            <a:endParaRPr lang="en-US" sz="1200" dirty="0"/>
          </a:p>
        </p:txBody>
      </p:sp>
      <p:sp>
        <p:nvSpPr>
          <p:cNvPr id="19" name="icon-circle-305"/>
          <p:cNvSpPr/>
          <p:nvPr/>
        </p:nvSpPr>
        <p:spPr>
          <a:xfrm>
            <a:off x="457200" y="3520440"/>
            <a:ext cx="502920" cy="502920"/>
          </a:xfrm>
          <a:prstGeom prst="ellipse">
            <a:avLst/>
          </a:prstGeom>
          <a:solidFill>
            <a:schemeClr val="accent1"/>
          </a:solidFill>
          <a:ln/>
        </p:spPr>
      </p:sp>
      <p:pic>
        <p:nvPicPr>
          <p:cNvPr id="20" name="icon-306" descr="icon">    </p:cNvPr>
          <p:cNvPicPr>
            <a:picLocks noChangeAspect="1"/>
          </p:cNvPicPr>
          <p:nvPr/>
        </p:nvPicPr>
        <p:blipFill>
          <a:blip r:embed="rId5"/>
          <a:stretch>
            <a:fillRect/>
          </a:stretch>
        </p:blipFill>
        <p:spPr>
          <a:xfrm>
            <a:off x="587959" y="3651199"/>
            <a:ext cx="241402" cy="241402"/>
          </a:xfrm>
          <a:prstGeom prst="rect">
            <a:avLst/>
          </a:prstGeom>
        </p:spPr>
      </p:pic>
      <p:sp>
        <p:nvSpPr>
          <p:cNvPr id="21" name="text-307"/>
          <p:cNvSpPr txBox="1"/>
          <p:nvPr/>
        </p:nvSpPr>
        <p:spPr>
          <a:xfrm>
            <a:off x="1143000" y="3474720"/>
            <a:ext cx="3291840" cy="292608"/>
          </a:xfrm>
          <a:prstGeom prst="rect">
            <a:avLst/>
          </a:prstGeom>
          <a:noFill/>
          <a:ln/>
        </p:spPr>
        <p:txBody>
          <a:bodyPr wrap="square" lIns="0" tIns="0" rIns="0" bIns="0" rtlCol="0" anchor="t"/>
          <a:lstStyle/>
          <a:p>
            <a:pPr indent="0" marL="0">
              <a:buNone/>
            </a:pPr>
            <a:r>
              <a:rPr lang="en-US" sz="1500" b="1" dirty="0">
                <a:solidFill>
                  <a:schemeClr val="tx2"/>
                </a:solidFill>
              </a:rPr>
              <a:t>CLAUDE.md</a:t>
            </a:r>
            <a:endParaRPr lang="en-US" sz="1500" dirty="0"/>
          </a:p>
        </p:txBody>
      </p:sp>
      <p:sp>
        <p:nvSpPr>
          <p:cNvPr id="22" name="text-308"/>
          <p:cNvSpPr txBox="1"/>
          <p:nvPr/>
        </p:nvSpPr>
        <p:spPr>
          <a:xfrm>
            <a:off x="1143000" y="3785616"/>
            <a:ext cx="3291840" cy="640080"/>
          </a:xfrm>
          <a:prstGeom prst="rect">
            <a:avLst/>
          </a:prstGeom>
          <a:noFill/>
          <a:ln/>
        </p:spPr>
        <p:txBody>
          <a:bodyPr wrap="square" lIns="0" tIns="0" rIns="0" bIns="0" rtlCol="0" anchor="t"/>
          <a:lstStyle/>
          <a:p>
            <a:pPr indent="0" marL="0">
              <a:buNone/>
            </a:pPr>
            <a:r>
              <a:rPr lang="en-US" sz="1200" dirty="0">
                <a:solidFill>
                  <a:schemeClr val="tx1"/>
                </a:solidFill>
              </a:rPr>
              <a:t>Stack, data rules and Definition of Done load into every session</a:t>
            </a:r>
            <a:endParaRPr lang="en-US" sz="1200" dirty="0"/>
          </a:p>
        </p:txBody>
      </p:sp>
      <p:sp>
        <p:nvSpPr>
          <p:cNvPr id="23" name="icon-circle-309"/>
          <p:cNvSpPr/>
          <p:nvPr/>
        </p:nvSpPr>
        <p:spPr>
          <a:xfrm>
            <a:off x="4663440" y="3520440"/>
            <a:ext cx="502920" cy="502920"/>
          </a:xfrm>
          <a:prstGeom prst="ellipse">
            <a:avLst/>
          </a:prstGeom>
          <a:solidFill>
            <a:schemeClr val="accent1"/>
          </a:solidFill>
          <a:ln/>
        </p:spPr>
      </p:sp>
      <p:pic>
        <p:nvPicPr>
          <p:cNvPr id="24" name="icon-310" descr="icon">    </p:cNvPr>
          <p:cNvPicPr>
            <a:picLocks noChangeAspect="1"/>
          </p:cNvPicPr>
          <p:nvPr/>
        </p:nvPicPr>
        <p:blipFill>
          <a:blip r:embed="rId6"/>
          <a:stretch>
            <a:fillRect/>
          </a:stretch>
        </p:blipFill>
        <p:spPr>
          <a:xfrm>
            <a:off x="4794199" y="3651199"/>
            <a:ext cx="241402" cy="241402"/>
          </a:xfrm>
          <a:prstGeom prst="rect">
            <a:avLst/>
          </a:prstGeom>
        </p:spPr>
      </p:pic>
      <p:sp>
        <p:nvSpPr>
          <p:cNvPr id="25" name="text-311"/>
          <p:cNvSpPr txBox="1"/>
          <p:nvPr/>
        </p:nvSpPr>
        <p:spPr>
          <a:xfrm>
            <a:off x="5349240" y="3474720"/>
            <a:ext cx="3291840" cy="292608"/>
          </a:xfrm>
          <a:prstGeom prst="rect">
            <a:avLst/>
          </a:prstGeom>
          <a:noFill/>
          <a:ln/>
        </p:spPr>
        <p:txBody>
          <a:bodyPr wrap="square" lIns="0" tIns="0" rIns="0" bIns="0" rtlCol="0" anchor="t"/>
          <a:lstStyle/>
          <a:p>
            <a:pPr indent="0" marL="0">
              <a:buNone/>
            </a:pPr>
            <a:r>
              <a:rPr lang="en-US" sz="1500" b="1" dirty="0">
                <a:solidFill>
                  <a:schemeClr val="tx2"/>
                </a:solidFill>
              </a:rPr>
              <a:t>Resume, don’t restart</a:t>
            </a:r>
            <a:endParaRPr lang="en-US" sz="1500" dirty="0"/>
          </a:p>
        </p:txBody>
      </p:sp>
      <p:sp>
        <p:nvSpPr>
          <p:cNvPr id="26" name="text-312"/>
          <p:cNvSpPr txBox="1"/>
          <p:nvPr/>
        </p:nvSpPr>
        <p:spPr>
          <a:xfrm>
            <a:off x="5349240" y="3785616"/>
            <a:ext cx="3291840" cy="640080"/>
          </a:xfrm>
          <a:prstGeom prst="rect">
            <a:avLst/>
          </a:prstGeom>
          <a:noFill/>
          <a:ln/>
        </p:spPr>
        <p:txBody>
          <a:bodyPr wrap="square" lIns="0" tIns="0" rIns="0" bIns="0" rtlCol="0" anchor="t"/>
          <a:lstStyle/>
          <a:p>
            <a:pPr indent="0" marL="0">
              <a:buNone/>
            </a:pPr>
            <a:r>
              <a:rPr lang="en-US" sz="1200" dirty="0">
                <a:solidFill>
                  <a:schemeClr val="tx1"/>
                </a:solidFill>
              </a:rPr>
              <a:t>Agents stopped by usage limits were resumed with their context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What’s next</a:t>
            </a:r>
            <a:endParaRPr lang="en-US" sz="3000" dirty="0"/>
          </a:p>
        </p:txBody>
      </p:sp>
      <p:sp>
        <p:nvSpPr>
          <p:cNvPr id="3" name="icon-circle-313"/>
          <p:cNvSpPr/>
          <p:nvPr/>
        </p:nvSpPr>
        <p:spPr>
          <a:xfrm>
            <a:off x="457200" y="1143000"/>
            <a:ext cx="502920" cy="502920"/>
          </a:xfrm>
          <a:prstGeom prst="ellipse">
            <a:avLst/>
          </a:prstGeom>
          <a:solidFill>
            <a:schemeClr val="accent1"/>
          </a:solidFill>
          <a:ln/>
        </p:spPr>
      </p:sp>
      <p:pic>
        <p:nvPicPr>
          <p:cNvPr id="4" name="icon-314" descr="icon">    </p:cNvPr>
          <p:cNvPicPr>
            <a:picLocks noChangeAspect="1"/>
          </p:cNvPicPr>
          <p:nvPr/>
        </p:nvPicPr>
        <p:blipFill>
          <a:blip r:embed="rId1"/>
          <a:stretch>
            <a:fillRect/>
          </a:stretch>
        </p:blipFill>
        <p:spPr>
          <a:xfrm>
            <a:off x="587959" y="1273759"/>
            <a:ext cx="241402" cy="241402"/>
          </a:xfrm>
          <a:prstGeom prst="rect">
            <a:avLst/>
          </a:prstGeom>
        </p:spPr>
      </p:pic>
      <p:sp>
        <p:nvSpPr>
          <p:cNvPr id="5" name="text-315"/>
          <p:cNvSpPr txBox="1"/>
          <p:nvPr/>
        </p:nvSpPr>
        <p:spPr>
          <a:xfrm>
            <a:off x="1143000" y="1124712"/>
            <a:ext cx="3657600" cy="292608"/>
          </a:xfrm>
          <a:prstGeom prst="rect">
            <a:avLst/>
          </a:prstGeom>
          <a:noFill/>
          <a:ln/>
        </p:spPr>
        <p:txBody>
          <a:bodyPr wrap="square" lIns="0" tIns="0" rIns="0" bIns="0" rtlCol="0" anchor="t"/>
          <a:lstStyle/>
          <a:p>
            <a:pPr indent="0" marL="0">
              <a:buNone/>
            </a:pPr>
            <a:r>
              <a:rPr lang="en-US" sz="1500" b="1" dirty="0">
                <a:solidFill>
                  <a:schemeClr val="bg1"/>
                </a:solidFill>
              </a:rPr>
              <a:t>Template extraction</a:t>
            </a:r>
            <a:endParaRPr lang="en-US" sz="1500" dirty="0"/>
          </a:p>
        </p:txBody>
      </p:sp>
      <p:sp>
        <p:nvSpPr>
          <p:cNvPr id="6" name="text-316"/>
          <p:cNvSpPr txBox="1"/>
          <p:nvPr/>
        </p:nvSpPr>
        <p:spPr>
          <a:xfrm>
            <a:off x="1143000" y="1417320"/>
            <a:ext cx="3657600" cy="457200"/>
          </a:xfrm>
          <a:prstGeom prst="rect">
            <a:avLst/>
          </a:prstGeom>
          <a:noFill/>
          <a:ln/>
        </p:spPr>
        <p:txBody>
          <a:bodyPr wrap="square" lIns="0" tIns="0" rIns="0" bIns="0" rtlCol="0" anchor="t"/>
          <a:lstStyle/>
          <a:p>
            <a:pPr indent="0" marL="0">
              <a:buNone/>
            </a:pPr>
            <a:r>
              <a:rPr lang="en-US" sz="1200" dirty="0">
                <a:solidFill>
                  <a:schemeClr val="accent6"/>
                </a:solidFill>
              </a:rPr>
              <a:t>dotnet new template with SharedKernel, BuildingBlocks, Auth, AdminUsers and Products</a:t>
            </a:r>
            <a:endParaRPr lang="en-US" sz="1200" dirty="0"/>
          </a:p>
        </p:txBody>
      </p:sp>
      <p:sp>
        <p:nvSpPr>
          <p:cNvPr id="7" name="icon-circle-317"/>
          <p:cNvSpPr/>
          <p:nvPr/>
        </p:nvSpPr>
        <p:spPr>
          <a:xfrm>
            <a:off x="457200" y="1920240"/>
            <a:ext cx="502920" cy="502920"/>
          </a:xfrm>
          <a:prstGeom prst="ellipse">
            <a:avLst/>
          </a:prstGeom>
          <a:solidFill>
            <a:schemeClr val="accent1"/>
          </a:solidFill>
          <a:ln/>
        </p:spPr>
      </p:sp>
      <p:pic>
        <p:nvPicPr>
          <p:cNvPr id="8" name="icon-318" descr="icon">    </p:cNvPr>
          <p:cNvPicPr>
            <a:picLocks noChangeAspect="1"/>
          </p:cNvPicPr>
          <p:nvPr/>
        </p:nvPicPr>
        <p:blipFill>
          <a:blip r:embed="rId2"/>
          <a:stretch>
            <a:fillRect/>
          </a:stretch>
        </p:blipFill>
        <p:spPr>
          <a:xfrm>
            <a:off x="587959" y="2050999"/>
            <a:ext cx="241402" cy="241402"/>
          </a:xfrm>
          <a:prstGeom prst="rect">
            <a:avLst/>
          </a:prstGeom>
        </p:spPr>
      </p:pic>
      <p:sp>
        <p:nvSpPr>
          <p:cNvPr id="9" name="text-319"/>
          <p:cNvSpPr txBox="1"/>
          <p:nvPr/>
        </p:nvSpPr>
        <p:spPr>
          <a:xfrm>
            <a:off x="1143000" y="1901952"/>
            <a:ext cx="3657600" cy="292608"/>
          </a:xfrm>
          <a:prstGeom prst="rect">
            <a:avLst/>
          </a:prstGeom>
          <a:noFill/>
          <a:ln/>
        </p:spPr>
        <p:txBody>
          <a:bodyPr wrap="square" lIns="0" tIns="0" rIns="0" bIns="0" rtlCol="0" anchor="t"/>
          <a:lstStyle/>
          <a:p>
            <a:pPr indent="0" marL="0">
              <a:buNone/>
            </a:pPr>
            <a:r>
              <a:rPr lang="en-US" sz="1500" b="1" dirty="0">
                <a:solidFill>
                  <a:schemeClr val="bg1"/>
                </a:solidFill>
              </a:rPr>
              <a:t>Release and operations (light)</a:t>
            </a:r>
            <a:endParaRPr lang="en-US" sz="1500" dirty="0"/>
          </a:p>
        </p:txBody>
      </p:sp>
      <p:sp>
        <p:nvSpPr>
          <p:cNvPr id="10" name="text-320"/>
          <p:cNvSpPr txBox="1"/>
          <p:nvPr/>
        </p:nvSpPr>
        <p:spPr>
          <a:xfrm>
            <a:off x="1143000" y="2194560"/>
            <a:ext cx="3657600" cy="457200"/>
          </a:xfrm>
          <a:prstGeom prst="rect">
            <a:avLst/>
          </a:prstGeom>
          <a:noFill/>
          <a:ln/>
        </p:spPr>
        <p:txBody>
          <a:bodyPr wrap="square" lIns="0" tIns="0" rIns="0" bIns="0" rtlCol="0" anchor="t"/>
          <a:lstStyle/>
          <a:p>
            <a:pPr indent="0" marL="0">
              <a:buNone/>
            </a:pPr>
            <a:r>
              <a:rPr lang="en-US" sz="1200" dirty="0">
                <a:solidFill>
                  <a:schemeClr val="accent6"/>
                </a:solidFill>
              </a:rPr>
              <a:t>Release checklist, health and logging notes, runbook</a:t>
            </a:r>
            <a:endParaRPr lang="en-US" sz="1200" dirty="0"/>
          </a:p>
        </p:txBody>
      </p:sp>
      <p:sp>
        <p:nvSpPr>
          <p:cNvPr id="11" name="icon-circle-321"/>
          <p:cNvSpPr/>
          <p:nvPr/>
        </p:nvSpPr>
        <p:spPr>
          <a:xfrm>
            <a:off x="457200" y="2697480"/>
            <a:ext cx="502920" cy="502920"/>
          </a:xfrm>
          <a:prstGeom prst="ellipse">
            <a:avLst/>
          </a:prstGeom>
          <a:solidFill>
            <a:schemeClr val="accent1"/>
          </a:solidFill>
          <a:ln/>
        </p:spPr>
      </p:sp>
      <p:pic>
        <p:nvPicPr>
          <p:cNvPr id="12" name="icon-322" descr="icon">    </p:cNvPr>
          <p:cNvPicPr>
            <a:picLocks noChangeAspect="1"/>
          </p:cNvPicPr>
          <p:nvPr/>
        </p:nvPicPr>
        <p:blipFill>
          <a:blip r:embed="rId3"/>
          <a:stretch>
            <a:fillRect/>
          </a:stretch>
        </p:blipFill>
        <p:spPr>
          <a:xfrm>
            <a:off x="587959" y="2828239"/>
            <a:ext cx="241402" cy="241402"/>
          </a:xfrm>
          <a:prstGeom prst="rect">
            <a:avLst/>
          </a:prstGeom>
        </p:spPr>
      </p:pic>
      <p:sp>
        <p:nvSpPr>
          <p:cNvPr id="13" name="text-323"/>
          <p:cNvSpPr txBox="1"/>
          <p:nvPr/>
        </p:nvSpPr>
        <p:spPr>
          <a:xfrm>
            <a:off x="1143000" y="2679192"/>
            <a:ext cx="3657600" cy="292608"/>
          </a:xfrm>
          <a:prstGeom prst="rect">
            <a:avLst/>
          </a:prstGeom>
          <a:noFill/>
          <a:ln/>
        </p:spPr>
        <p:txBody>
          <a:bodyPr wrap="square" lIns="0" tIns="0" rIns="0" bIns="0" rtlCol="0" anchor="t"/>
          <a:lstStyle/>
          <a:p>
            <a:pPr indent="0" marL="0">
              <a:buNone/>
            </a:pPr>
            <a:r>
              <a:rPr lang="en-US" sz="1500" b="1" dirty="0">
                <a:solidFill>
                  <a:schemeClr val="bg1"/>
                </a:solidFill>
              </a:rPr>
              <a:t>Close the gaps</a:t>
            </a:r>
            <a:endParaRPr lang="en-US" sz="1500" dirty="0"/>
          </a:p>
        </p:txBody>
      </p:sp>
      <p:sp>
        <p:nvSpPr>
          <p:cNvPr id="14" name="text-324"/>
          <p:cNvSpPr txBox="1"/>
          <p:nvPr/>
        </p:nvSpPr>
        <p:spPr>
          <a:xfrm>
            <a:off x="1143000" y="2971800"/>
            <a:ext cx="3657600" cy="457200"/>
          </a:xfrm>
          <a:prstGeom prst="rect">
            <a:avLst/>
          </a:prstGeom>
          <a:noFill/>
          <a:ln/>
        </p:spPr>
        <p:txBody>
          <a:bodyPr wrap="square" lIns="0" tIns="0" rIns="0" bIns="0" rtlCol="0" anchor="t"/>
          <a:lstStyle/>
          <a:p>
            <a:pPr indent="0" marL="0">
              <a:buNone/>
            </a:pPr>
            <a:r>
              <a:rPr lang="en-US" sz="1200" dirty="0">
                <a:solidFill>
                  <a:schemeClr val="accent6"/>
                </a:solidFill>
              </a:rPr>
              <a:t>Fix the incomplete OpenAPI export (Bug #169), then generate Postman and add a drift check</a:t>
            </a:r>
            <a:endParaRPr lang="en-US" sz="1200" dirty="0"/>
          </a:p>
        </p:txBody>
      </p:sp>
      <p:sp>
        <p:nvSpPr>
          <p:cNvPr id="15" name="icon-circle-325"/>
          <p:cNvSpPr/>
          <p:nvPr/>
        </p:nvSpPr>
        <p:spPr>
          <a:xfrm>
            <a:off x="457200" y="3474720"/>
            <a:ext cx="502920" cy="502920"/>
          </a:xfrm>
          <a:prstGeom prst="ellipse">
            <a:avLst/>
          </a:prstGeom>
          <a:solidFill>
            <a:schemeClr val="accent1"/>
          </a:solidFill>
          <a:ln/>
        </p:spPr>
      </p:sp>
      <p:pic>
        <p:nvPicPr>
          <p:cNvPr id="16" name="icon-326" descr="icon">    </p:cNvPr>
          <p:cNvPicPr>
            <a:picLocks noChangeAspect="1"/>
          </p:cNvPicPr>
          <p:nvPr/>
        </p:nvPicPr>
        <p:blipFill>
          <a:blip r:embed="rId4"/>
          <a:stretch>
            <a:fillRect/>
          </a:stretch>
        </p:blipFill>
        <p:spPr>
          <a:xfrm>
            <a:off x="587959" y="3605479"/>
            <a:ext cx="241402" cy="241402"/>
          </a:xfrm>
          <a:prstGeom prst="rect">
            <a:avLst/>
          </a:prstGeom>
        </p:spPr>
      </p:pic>
      <p:sp>
        <p:nvSpPr>
          <p:cNvPr id="17" name="text-327"/>
          <p:cNvSpPr txBox="1"/>
          <p:nvPr/>
        </p:nvSpPr>
        <p:spPr>
          <a:xfrm>
            <a:off x="1143000" y="3456432"/>
            <a:ext cx="3657600" cy="292608"/>
          </a:xfrm>
          <a:prstGeom prst="rect">
            <a:avLst/>
          </a:prstGeom>
          <a:noFill/>
          <a:ln/>
        </p:spPr>
        <p:txBody>
          <a:bodyPr wrap="square" lIns="0" tIns="0" rIns="0" bIns="0" rtlCol="0" anchor="t"/>
          <a:lstStyle/>
          <a:p>
            <a:pPr indent="0" marL="0">
              <a:buNone/>
            </a:pPr>
            <a:r>
              <a:rPr lang="en-US" sz="1500" b="1" dirty="0">
                <a:solidFill>
                  <a:schemeClr val="bg1"/>
                </a:solidFill>
              </a:rPr>
              <a:t>Name a reuse target</a:t>
            </a:r>
            <a:endParaRPr lang="en-US" sz="1500" dirty="0"/>
          </a:p>
        </p:txBody>
      </p:sp>
      <p:sp>
        <p:nvSpPr>
          <p:cNvPr id="18" name="text-328"/>
          <p:cNvSpPr txBox="1"/>
          <p:nvPr/>
        </p:nvSpPr>
        <p:spPr>
          <a:xfrm>
            <a:off x="1143000" y="3749040"/>
            <a:ext cx="3657600" cy="457200"/>
          </a:xfrm>
          <a:prstGeom prst="rect">
            <a:avLst/>
          </a:prstGeom>
          <a:noFill/>
          <a:ln/>
        </p:spPr>
        <p:txBody>
          <a:bodyPr wrap="square" lIns="0" tIns="0" rIns="0" bIns="0" rtlCol="0" anchor="t"/>
          <a:lstStyle/>
          <a:p>
            <a:pPr indent="0" marL="0">
              <a:buNone/>
            </a:pPr>
            <a:r>
              <a:rPr lang="en-US" sz="1200" dirty="0">
                <a:solidFill>
                  <a:schemeClr val="accent6"/>
                </a:solidFill>
              </a:rPr>
              <a:t>Pick a client project to adopt the template, with its security owner</a:t>
            </a:r>
            <a:endParaRPr lang="en-US" sz="1200" dirty="0"/>
          </a:p>
        </p:txBody>
      </p:sp>
      <p:sp>
        <p:nvSpPr>
          <p:cNvPr id="19" name="text-329"/>
          <p:cNvSpPr txBox="1"/>
          <p:nvPr/>
        </p:nvSpPr>
        <p:spPr>
          <a:xfrm>
            <a:off x="5303520" y="1463040"/>
            <a:ext cx="3383280" cy="2194560"/>
          </a:xfrm>
          <a:prstGeom prst="rect">
            <a:avLst/>
          </a:prstGeom>
          <a:noFill/>
          <a:ln/>
        </p:spPr>
        <p:txBody>
          <a:bodyPr wrap="square" lIns="0" tIns="0" rIns="0" bIns="0" rtlCol="0" anchor="ctr"/>
          <a:lstStyle/>
          <a:p>
            <a:pPr indent="0" marL="0">
              <a:buNone/>
            </a:pPr>
            <a:r>
              <a:rPr lang="en-US" sz="2600" b="1" i="1" dirty="0">
                <a:solidFill>
                  <a:schemeClr val="bg1"/>
                </a:solidFill>
              </a:rPr>
              <a:t>Plan first.</a:t>
            </a:r>
            <a:endParaRPr lang="en-US" sz="2600" dirty="0"/>
          </a:p>
          <a:p>
            <a:pPr indent="0" marL="0">
              <a:buNone/>
            </a:pPr>
            <a:r>
              <a:rPr lang="en-US" sz="2600" b="1" i="1" dirty="0">
                <a:solidFill>
                  <a:schemeClr val="bg1"/>
                </a:solidFill>
              </a:rPr>
              <a:t>Decide in writing.</a:t>
            </a:r>
            <a:endParaRPr lang="en-US" sz="2600" dirty="0"/>
          </a:p>
          <a:p>
            <a:pPr indent="0" marL="0">
              <a:buNone/>
            </a:pPr>
            <a:r>
              <a:rPr lang="en-US" sz="2600" b="1" i="1" dirty="0">
                <a:solidFill>
                  <a:schemeClr val="bg1"/>
                </a:solidFill>
              </a:rPr>
              <a:t>Let fresh eyes review.</a:t>
            </a:r>
            <a:endParaRPr lang="en-US" sz="2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rders API Journey">
  <a:themeElements>
    <a:clrScheme name="Orders API Journey">
      <a:dk1>
        <a:srgbClr val="1A1530"/>
      </a:dk1>
      <a:lt1>
        <a:srgbClr val="FFFFFF"/>
      </a:lt1>
      <a:dk2>
        <a:srgbClr val="2A1F5C"/>
      </a:dk2>
      <a:lt2>
        <a:srgbClr val="F3F1FA"/>
      </a:lt2>
      <a:accent1>
        <a:srgbClr val="6B4EFF"/>
      </a:accent1>
      <a:accent2>
        <a:srgbClr val="E8962E"/>
      </a:accent2>
      <a:accent3>
        <a:srgbClr val="1F9E91"/>
      </a:accent3>
      <a:accent4>
        <a:srgbClr val="D9485F"/>
      </a:accent4>
      <a:accent5>
        <a:srgbClr val="7D7799"/>
      </a:accent5>
      <a:accent6>
        <a:srgbClr val="B9AEF5"/>
      </a:accent6>
      <a:hlink>
        <a:srgbClr val="6B4EFF"/>
      </a:hlink>
      <a:folHlink>
        <a:srgbClr val="7D7799"/>
      </a:folHlink>
    </a:clrScheme>
    <a:fontScheme name="Orders API Journe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Orders API</dc:title>
  <dc:subject>How the Orders API repository was planned and built with Claude Code</dc:subject>
  <dc:creator>Elmor Cabalfin</dc:creator>
  <cp:lastModifiedBy>Elmor Cabalfin</cp:lastModifiedBy>
  <cp:revision>1</cp:revision>
  <dcterms:created xsi:type="dcterms:W3CDTF">2026-10-29T00:05:16Z</dcterms:created>
  <dcterms:modified xsi:type="dcterms:W3CDTF">2026-10-29T00:05:16Z</dcterms:modified>
</cp:coreProperties>
</file>